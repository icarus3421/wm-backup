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xlsx" ContentType="application/vnd.openxmlformats-officedocument.spreadsheetml.sheet"/>
  <Default Extension="jpg" ContentType="image/jpeg"/>
  <Override PartName="/ppt/drawings/drawing1.xml" ContentType="application/vnd.openxmlformats-officedocument.drawingml.chartshapes+xml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5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charts/chart10.xml" ContentType="application/vnd.openxmlformats-officedocument.drawingml.chart+xml"/>
  <Override PartName="/ppt/charts/chart9.xml" ContentType="application/vnd.openxmlformats-officedocument.drawingml.chart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charts/chart11.xml" ContentType="application/vnd.openxmlformats-officedocument.drawingml.chart+xml"/>
  <Override PartName="/ppt/theme/themeOverride3.xml" ContentType="application/vnd.openxmlformats-officedocument.themeOverride+xml"/>
  <Override PartName="/ppt/charts/chart12.xml" ContentType="application/vnd.openxmlformats-officedocument.drawingml.chart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theme/themeOverride2.xml" ContentType="application/vnd.openxmlformats-officedocument.themeOverride+xml"/>
  <Override PartName="/ppt/charts/chart7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charts/chart4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6" r:id="rId2"/>
    <p:sldId id="267" r:id="rId3"/>
    <p:sldId id="294" r:id="rId4"/>
    <p:sldId id="295" r:id="rId5"/>
    <p:sldId id="298" r:id="rId6"/>
    <p:sldId id="304" r:id="rId7"/>
    <p:sldId id="276" r:id="rId8"/>
    <p:sldId id="269" r:id="rId9"/>
    <p:sldId id="287" r:id="rId10"/>
    <p:sldId id="273" r:id="rId11"/>
    <p:sldId id="274" r:id="rId12"/>
    <p:sldId id="275" r:id="rId13"/>
    <p:sldId id="291" r:id="rId14"/>
    <p:sldId id="270" r:id="rId15"/>
    <p:sldId id="288" r:id="rId16"/>
    <p:sldId id="271" r:id="rId17"/>
    <p:sldId id="289" r:id="rId18"/>
    <p:sldId id="272" r:id="rId19"/>
    <p:sldId id="290" r:id="rId20"/>
    <p:sldId id="277" r:id="rId21"/>
    <p:sldId id="305" r:id="rId22"/>
    <p:sldId id="284" r:id="rId23"/>
    <p:sldId id="301" r:id="rId24"/>
    <p:sldId id="283" r:id="rId25"/>
    <p:sldId id="278" r:id="rId26"/>
    <p:sldId id="292" r:id="rId27"/>
    <p:sldId id="279" r:id="rId28"/>
    <p:sldId id="268" r:id="rId29"/>
    <p:sldId id="257" r:id="rId30"/>
    <p:sldId id="258" r:id="rId31"/>
    <p:sldId id="261" r:id="rId32"/>
    <p:sldId id="262" r:id="rId33"/>
    <p:sldId id="263" r:id="rId34"/>
    <p:sldId id="264" r:id="rId35"/>
    <p:sldId id="265" r:id="rId36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ulvey, Tanya" initials="MT" lastIdx="1" clrIdx="0"/>
  <p:cmAuthor id="1" name="Alonso, Alexander" initials="AA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23" d="100"/>
          <a:sy n="123" d="100"/>
        </p:scale>
        <p:origin x="-15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47" Type="http://schemas.openxmlformats.org/officeDocument/2006/relationships/customXml" Target="../customXml/item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3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8891513211825793"/>
          <c:y val="2.0086337891974029E-2"/>
          <c:w val="0.5094893353727673"/>
          <c:h val="0.956521739130434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2008 (n = 371)</c:v>
                </c:pt>
              </c:strCache>
            </c:strRef>
          </c:tx>
          <c:spPr>
            <a:solidFill>
              <a:schemeClr val="accent3"/>
            </a:solidFill>
            <a:ln w="0" cap="sq">
              <a:solidFill>
                <a:schemeClr val="tx1"/>
              </a:solidFill>
            </a:ln>
            <a:effectLst/>
            <a:scene3d>
              <a:camera prst="orthographicFront"/>
              <a:lightRig rig="threePt" dir="t"/>
            </a:scene3d>
            <a:sp3d prstMaterial="matte">
              <a:contourClr>
                <a:srgbClr val="000000"/>
              </a:contourClr>
            </a:sp3d>
          </c:spPr>
          <c:invertIfNegative val="0"/>
          <c:dLbls>
            <c:txPr>
              <a:bodyPr/>
              <a:lstStyle/>
              <a:p>
                <a:pPr>
                  <a:defRPr sz="1400" b="0">
                    <a:latin typeface="Century Gothic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No, we never have, but
plan to do so in the future</c:v>
                </c:pt>
                <c:pt idx="1">
                  <c:v>No, we never have and do not plan
to do so in the future</c:v>
                </c:pt>
                <c:pt idx="2">
                  <c:v>Yes, we used these websites previously,
but do not plan to do so again</c:v>
                </c:pt>
                <c:pt idx="3">
                  <c:v>Yes, we currently use these sites to
recruit potential job candidates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0.19</c:v>
                </c:pt>
                <c:pt idx="1">
                  <c:v>0.45</c:v>
                </c:pt>
                <c:pt idx="2">
                  <c:v>0.03</c:v>
                </c:pt>
                <c:pt idx="3">
                  <c:v>0.34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 (n = 499)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</c:spPr>
          <c:invertIfNegative val="0"/>
          <c:dLbls>
            <c:spPr>
              <a:noFill/>
            </c:spPr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No, we never have, but
plan to do so in the future</c:v>
                </c:pt>
                <c:pt idx="1">
                  <c:v>No, we never have and do not plan
to do so in the future</c:v>
                </c:pt>
                <c:pt idx="2">
                  <c:v>Yes, we used these websites previously,
but do not plan to do so again</c:v>
                </c:pt>
                <c:pt idx="3">
                  <c:v>Yes, we currently use these sites to
recruit potential job candidates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</c:v>
                </c:pt>
                <c:pt idx="1">
                  <c:v>0.21</c:v>
                </c:pt>
                <c:pt idx="2">
                  <c:v>0.03</c:v>
                </c:pt>
                <c:pt idx="3">
                  <c:v>0.56000000000000005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2013 (n = 630)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No, we never have, but
plan to do so in the future</c:v>
                </c:pt>
                <c:pt idx="1">
                  <c:v>No, we never have and do not plan
to do so in the future</c:v>
                </c:pt>
                <c:pt idx="2">
                  <c:v>Yes, we used these websites previously,
but do not plan to do so again</c:v>
                </c:pt>
                <c:pt idx="3">
                  <c:v>Yes, we currently use these sites to
recruit potential job candidates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0.11</c:v>
                </c:pt>
                <c:pt idx="1">
                  <c:v>0.11</c:v>
                </c:pt>
                <c:pt idx="2">
                  <c:v>0.01</c:v>
                </c:pt>
                <c:pt idx="3">
                  <c:v>0.77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7"/>
        <c:axId val="4446080"/>
        <c:axId val="4447616"/>
      </c:barChart>
      <c:catAx>
        <c:axId val="444608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 w="12700">
            <a:solidFill>
              <a:schemeClr val="tx1"/>
            </a:solidFill>
          </a:ln>
        </c:spPr>
        <c:txPr>
          <a:bodyPr/>
          <a:lstStyle/>
          <a:p>
            <a:pPr algn="r">
              <a:defRPr sz="1400">
                <a:latin typeface="Century Gothic" pitchFamily="34" charset="0"/>
              </a:defRPr>
            </a:pPr>
            <a:endParaRPr lang="en-US"/>
          </a:p>
        </c:txPr>
        <c:crossAx val="4447616"/>
        <c:crosses val="autoZero"/>
        <c:auto val="1"/>
        <c:lblAlgn val="ctr"/>
        <c:lblOffset val="100"/>
        <c:noMultiLvlLbl val="0"/>
      </c:catAx>
      <c:valAx>
        <c:axId val="4447616"/>
        <c:scaling>
          <c:orientation val="minMax"/>
        </c:scaling>
        <c:delete val="1"/>
        <c:axPos val="b"/>
        <c:numFmt formatCode="0%" sourceLinked="0"/>
        <c:majorTickMark val="none"/>
        <c:minorTickMark val="none"/>
        <c:tickLblPos val="none"/>
        <c:crossAx val="4446080"/>
        <c:crosses val="autoZero"/>
        <c:crossBetween val="between"/>
      </c:valAx>
      <c:spPr>
        <a:noFill/>
        <a:ln>
          <a:noFill/>
        </a:ln>
      </c:spPr>
    </c:plotArea>
    <c:legend>
      <c:legendPos val="b"/>
      <c:legendEntry>
        <c:idx val="2"/>
        <c:txPr>
          <a:bodyPr/>
          <a:lstStyle/>
          <a:p>
            <a:pPr algn="ct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6424713165341762"/>
          <c:y val="0.36832849841138277"/>
          <c:w val="0.23189846382883827"/>
          <c:h val="0.22467237647925586"/>
        </c:manualLayout>
      </c:layout>
      <c:overlay val="0"/>
      <c:spPr>
        <a:ln>
          <a:noFill/>
        </a:ln>
      </c:spPr>
      <c:txPr>
        <a:bodyPr/>
        <a:lstStyle/>
        <a:p>
          <a:pPr algn="ctr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5731950538492216E-3"/>
          <c:y val="0.1233185983331031"/>
          <c:w val="0.97606701236537696"/>
          <c:h val="0.672557443477460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 (n = 481)</c:v>
                </c:pt>
              </c:strCache>
            </c:strRef>
          </c:tx>
          <c:spPr>
            <a:solidFill>
              <a:srgbClr val="1F497D">
                <a:lumMod val="60000"/>
                <a:lumOff val="40000"/>
              </a:srgbClr>
            </a:solidFill>
            <a:ln>
              <a:solidFill>
                <a:sysClr val="windowText" lastClr="000000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 b="0">
                    <a:latin typeface="Century Gothic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Executive/upper management (e.g., CEO, CFO)</c:v>
                </c:pt>
                <c:pt idx="1">
                  <c:v>Management (e.g., directors, managers)</c:v>
                </c:pt>
                <c:pt idx="2">
                  <c:v>Nonmanagement salaried employees</c:v>
                </c:pt>
                <c:pt idx="3">
                  <c:v>Nonmanagement hourly employee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0.41</c:v>
                </c:pt>
                <c:pt idx="1">
                  <c:v>0.8</c:v>
                </c:pt>
                <c:pt idx="2">
                  <c:v>0.87</c:v>
                </c:pt>
                <c:pt idx="3">
                  <c:v>0.48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 (n = 277)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ysClr val="windowText" lastClr="000000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Executive/upper management (e.g., CEO, CFO)</c:v>
                </c:pt>
                <c:pt idx="1">
                  <c:v>Management (e.g., directors, managers)</c:v>
                </c:pt>
                <c:pt idx="2">
                  <c:v>Nonmanagement salaried employees</c:v>
                </c:pt>
                <c:pt idx="3">
                  <c:v>Nonmanagement hourly employee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0.39</c:v>
                </c:pt>
                <c:pt idx="1">
                  <c:v>0.77</c:v>
                </c:pt>
                <c:pt idx="2">
                  <c:v>0.82</c:v>
                </c:pt>
                <c:pt idx="3">
                  <c:v>0.36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2008 (n = 125)</c:v>
                </c:pt>
              </c:strCache>
            </c:strRef>
          </c:tx>
          <c:spPr>
            <a:solidFill>
              <a:srgbClr val="9BBB59"/>
            </a:solidFill>
            <a:ln>
              <a:solidFill>
                <a:sysClr val="windowText" lastClr="000000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Executive/upper management (e.g., CEO, CFO)</c:v>
                </c:pt>
                <c:pt idx="1">
                  <c:v>Management (e.g., directors, managers)</c:v>
                </c:pt>
                <c:pt idx="2">
                  <c:v>Nonmanagement salaried employees</c:v>
                </c:pt>
                <c:pt idx="3">
                  <c:v>Nonmanagement hourly employee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0.27</c:v>
                </c:pt>
                <c:pt idx="1">
                  <c:v>0.54</c:v>
                </c:pt>
                <c:pt idx="2">
                  <c:v>0.57999999999999996</c:v>
                </c:pt>
                <c:pt idx="3">
                  <c:v>0.32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5193472"/>
        <c:axId val="45211648"/>
      </c:barChart>
      <c:catAx>
        <c:axId val="4519347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 algn="ct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45211648"/>
        <c:crosses val="autoZero"/>
        <c:auto val="1"/>
        <c:lblAlgn val="ctr"/>
        <c:lblOffset val="100"/>
        <c:noMultiLvlLbl val="0"/>
      </c:catAx>
      <c:valAx>
        <c:axId val="45211648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one"/>
        <c:crossAx val="45193472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/>
          <a:lstStyle/>
          <a:p>
            <a:pPr algn="ct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 algn="ct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ayout/>
      <c:overlay val="0"/>
      <c:txPr>
        <a:bodyPr/>
        <a:lstStyle/>
        <a:p>
          <a:pPr algn="ctr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8602077865267442"/>
          <c:y val="1.7543859649122806E-2"/>
          <c:w val="0.44643009778644926"/>
          <c:h val="0.95601901735967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2008 (n = 276)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Other </c:v>
                </c:pt>
                <c:pt idx="1">
                  <c:v>Create a group or page for the organization to post information and career opportunities</c:v>
                </c:pt>
                <c:pt idx="2">
                  <c:v>Search for active job candidates by using the social networking website's search feature</c:v>
                </c:pt>
                <c:pt idx="3">
                  <c:v>*Create interest in jobs by posting useful information/contributing to discussion through social networking websites</c:v>
                </c:pt>
                <c:pt idx="4">
                  <c:v>Search for passive job candidates by using the social networking website's search feature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7.0000000000000007E-2</c:v>
                </c:pt>
                <c:pt idx="1">
                  <c:v>0.24</c:v>
                </c:pt>
                <c:pt idx="2">
                  <c:v>0.16</c:v>
                </c:pt>
                <c:pt idx="4">
                  <c:v>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 (n = 103)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>
                    <a:latin typeface="Century Gothic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Other </c:v>
                </c:pt>
                <c:pt idx="1">
                  <c:v>Create a group or page for the organization to post information and career opportunities</c:v>
                </c:pt>
                <c:pt idx="2">
                  <c:v>Search for active job candidates by using the social networking website's search feature</c:v>
                </c:pt>
                <c:pt idx="3">
                  <c:v>*Create interest in jobs by posting useful information/contributing to discussion through social networking websites</c:v>
                </c:pt>
                <c:pt idx="4">
                  <c:v>Search for passive job candidates by using the social networking website's search feature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0.06</c:v>
                </c:pt>
                <c:pt idx="1">
                  <c:v>0.63</c:v>
                </c:pt>
                <c:pt idx="2">
                  <c:v>0.65</c:v>
                </c:pt>
                <c:pt idx="4">
                  <c:v>0.72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2013 (n = 480)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Other </c:v>
                </c:pt>
                <c:pt idx="1">
                  <c:v>Create a group or page for the organization to post information and career opportunities</c:v>
                </c:pt>
                <c:pt idx="2">
                  <c:v>Search for active job candidates by using the social networking website's search feature</c:v>
                </c:pt>
                <c:pt idx="3">
                  <c:v>*Create interest in jobs by posting useful information/contributing to discussion through social networking websites</c:v>
                </c:pt>
                <c:pt idx="4">
                  <c:v>Search for passive job candidates by using the social networking website's search feature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0.04</c:v>
                </c:pt>
                <c:pt idx="1">
                  <c:v>0.59</c:v>
                </c:pt>
                <c:pt idx="2">
                  <c:v>0.66</c:v>
                </c:pt>
                <c:pt idx="3">
                  <c:v>0.68</c:v>
                </c:pt>
                <c:pt idx="4">
                  <c:v>0.71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7141888"/>
        <c:axId val="50802688"/>
      </c:barChart>
      <c:catAx>
        <c:axId val="571418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 algn="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50802688"/>
        <c:crosses val="autoZero"/>
        <c:auto val="1"/>
        <c:lblAlgn val="ctr"/>
        <c:lblOffset val="100"/>
        <c:noMultiLvlLbl val="0"/>
      </c:catAx>
      <c:valAx>
        <c:axId val="5080268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one"/>
        <c:crossAx val="5714188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2253362135042862"/>
          <c:y val="0.30125787401574805"/>
          <c:w val="0.16861682112744755"/>
          <c:h val="0.18761023622047246"/>
        </c:manualLayout>
      </c:layout>
      <c:overlay val="0"/>
      <c:txPr>
        <a:bodyPr/>
        <a:lstStyle/>
        <a:p>
          <a:pPr algn="ctr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>
              <a:defRPr/>
            </a:pPr>
            <a:r>
              <a:rPr lang="en-US" sz="1400" b="1" dirty="0" smtClean="0">
                <a:latin typeface="Century Gothic" pitchFamily="34" charset="0"/>
              </a:rPr>
              <a:t>Social Networking</a:t>
            </a:r>
            <a:r>
              <a:rPr lang="en-US" sz="1400" b="1" baseline="0" dirty="0" smtClean="0">
                <a:latin typeface="Century Gothic" pitchFamily="34" charset="0"/>
              </a:rPr>
              <a:t> Websites</a:t>
            </a:r>
            <a:endParaRPr lang="en-US" sz="1400" b="1" dirty="0">
              <a:latin typeface="Century Gothic" pitchFamily="34" charset="0"/>
            </a:endParaRPr>
          </a:p>
        </c:rich>
      </c:tx>
      <c:layout>
        <c:manualLayout>
          <c:xMode val="edge"/>
          <c:yMode val="edge"/>
          <c:x val="0.31720454463739972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3293349694924498"/>
          <c:y val="0.15914000984251969"/>
          <c:w val="0.74237515765074824"/>
          <c:h val="0.7099663357297728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No, we have never used this method and do not plan to do so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>
                    <a:latin typeface="Century Gothic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388)</c:v>
                </c:pt>
                <c:pt idx="1">
                  <c:v>2011 (n = 441)</c:v>
                </c:pt>
                <c:pt idx="2">
                  <c:v>2013 (n = 529)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0.67</c:v>
                </c:pt>
                <c:pt idx="1">
                  <c:v>0.67</c:v>
                </c:pt>
                <c:pt idx="2">
                  <c:v>0.68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No, we never have, but plan to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388)</c:v>
                </c:pt>
                <c:pt idx="1">
                  <c:v>2011 (n = 441)</c:v>
                </c:pt>
                <c:pt idx="2">
                  <c:v>2013 (n = 529)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0.11</c:v>
                </c:pt>
                <c:pt idx="2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Yes, we used them previously, but do not plan to do so again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dLbl>
              <c:idx val="0"/>
              <c:layout>
                <c:manualLayout>
                  <c:x val="1.1627906976744186E-2"/>
                  <c:y val="0.139927536231884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1627906976744186E-2"/>
                  <c:y val="-0.166666666666666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388)</c:v>
                </c:pt>
                <c:pt idx="1">
                  <c:v>2011 (n = 441)</c:v>
                </c:pt>
                <c:pt idx="2">
                  <c:v>2013 (n = 529)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0.02</c:v>
                </c:pt>
                <c:pt idx="1">
                  <c:v>0.04</c:v>
                </c:pt>
                <c:pt idx="2">
                  <c:v>0.01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Yes, we currently use this online tool to screen job candidates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388)</c:v>
                </c:pt>
                <c:pt idx="1">
                  <c:v>2011 (n = 441)</c:v>
                </c:pt>
                <c:pt idx="2">
                  <c:v>2013 (n = 529)</c:v>
                </c:pt>
              </c:strCache>
            </c:strRef>
          </c:cat>
          <c:val>
            <c:numRef>
              <c:f>Sheet1!$E$2:$E$4</c:f>
              <c:numCache>
                <c:formatCode>0%</c:formatCode>
                <c:ptCount val="3"/>
                <c:pt idx="0">
                  <c:v>0.13</c:v>
                </c:pt>
                <c:pt idx="1">
                  <c:v>0.18</c:v>
                </c:pt>
                <c:pt idx="2">
                  <c:v>0.2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51233920"/>
        <c:axId val="51235840"/>
      </c:barChart>
      <c:catAx>
        <c:axId val="51233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 algn="r">
              <a:defRPr sz="1400">
                <a:latin typeface="Century Gothic" pitchFamily="34" charset="0"/>
              </a:defRPr>
            </a:pPr>
            <a:endParaRPr lang="en-US"/>
          </a:p>
        </c:txPr>
        <c:crossAx val="51235840"/>
        <c:crosses val="autoZero"/>
        <c:auto val="1"/>
        <c:lblAlgn val="ctr"/>
        <c:lblOffset val="100"/>
        <c:noMultiLvlLbl val="0"/>
      </c:catAx>
      <c:valAx>
        <c:axId val="5123584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512339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US" sz="1400" b="0" i="0" u="none" strike="noStrike" kern="1200" baseline="0" dirty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r>
              <a:rPr lang="en-US" sz="1400" b="1" i="0" u="none" strike="noStrike" kern="1200" baseline="0" dirty="0" smtClean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rPr>
              <a:t>Online Search Engines</a:t>
            </a:r>
            <a:endParaRPr lang="en-US" sz="1400" b="1" i="0" u="none" strike="noStrike" kern="1200" baseline="0" dirty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39688591727758166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30070232600235314"/>
          <c:y val="0.10792305567067274"/>
          <c:w val="0.55282864965155221"/>
          <c:h val="0.4189722337339411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No, we have never used this method and do not plan to do so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>
                    <a:latin typeface="Century Gothic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381)</c:v>
                </c:pt>
                <c:pt idx="1">
                  <c:v>2011 (n = 417)</c:v>
                </c:pt>
                <c:pt idx="2">
                  <c:v>2013 (n = 535)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</c:v>
                </c:pt>
                <c:pt idx="1">
                  <c:v>0.59</c:v>
                </c:pt>
                <c:pt idx="2">
                  <c:v>0.63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No, we never have, but plan to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dLbl>
              <c:idx val="2"/>
              <c:layout>
                <c:manualLayout>
                  <c:x val="1.543209876543266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381)</c:v>
                </c:pt>
                <c:pt idx="1">
                  <c:v>2011 (n = 417)</c:v>
                </c:pt>
                <c:pt idx="2">
                  <c:v>2013 (n = 535)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0.09</c:v>
                </c:pt>
                <c:pt idx="1">
                  <c:v>0.09</c:v>
                </c:pt>
                <c:pt idx="2">
                  <c:v>7.0000000000000007E-2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Yes, we used them previously, but do not plan to do so again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dLbl>
              <c:idx val="2"/>
              <c:layout>
                <c:manualLayout>
                  <c:x val="1.1494252873563218E-2"/>
                  <c:y val="-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381)</c:v>
                </c:pt>
                <c:pt idx="1">
                  <c:v>2011 (n = 417)</c:v>
                </c:pt>
                <c:pt idx="2">
                  <c:v>2013 (n = 535)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0.04</c:v>
                </c:pt>
                <c:pt idx="1">
                  <c:v>0.05</c:v>
                </c:pt>
                <c:pt idx="2">
                  <c:v>0.02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Yes, we currently use this online tool to screen job candidates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2008 (n = 381)</c:v>
                </c:pt>
                <c:pt idx="1">
                  <c:v>2011 (n = 417)</c:v>
                </c:pt>
                <c:pt idx="2">
                  <c:v>2013 (n = 535)</c:v>
                </c:pt>
              </c:strCache>
            </c:strRef>
          </c:cat>
          <c:val>
            <c:numRef>
              <c:f>Sheet1!$E$2:$E$4</c:f>
              <c:numCache>
                <c:formatCode>0%</c:formatCode>
                <c:ptCount val="3"/>
                <c:pt idx="0">
                  <c:v>0.34</c:v>
                </c:pt>
                <c:pt idx="1">
                  <c:v>0.26</c:v>
                </c:pt>
                <c:pt idx="2">
                  <c:v>0.28000000000000003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52308608"/>
        <c:axId val="52326784"/>
      </c:barChart>
      <c:catAx>
        <c:axId val="523086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 algn="r">
              <a:defRPr sz="1400">
                <a:latin typeface="Century Gothic" pitchFamily="34" charset="0"/>
              </a:defRPr>
            </a:pPr>
            <a:endParaRPr lang="en-US"/>
          </a:p>
        </c:txPr>
        <c:crossAx val="52326784"/>
        <c:crosses val="autoZero"/>
        <c:auto val="1"/>
        <c:lblAlgn val="ctr"/>
        <c:lblOffset val="100"/>
        <c:noMultiLvlLbl val="0"/>
      </c:catAx>
      <c:valAx>
        <c:axId val="52326784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5230860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621777988958277"/>
          <c:y val="0.57652230971128604"/>
          <c:w val="0.67420750746673908"/>
          <c:h val="0.38838997099046829"/>
        </c:manualLayout>
      </c:layout>
      <c:overlay val="0"/>
      <c:txPr>
        <a:bodyPr/>
        <a:lstStyle/>
        <a:p>
          <a:pPr algn="ctr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 b="1" dirty="0" smtClean="0">
                <a:latin typeface="Century Gothic" pitchFamily="34" charset="0"/>
              </a:rPr>
              <a:t>2013</a:t>
            </a:r>
            <a:endParaRPr lang="en-US" sz="1400" b="1" dirty="0">
              <a:latin typeface="Century Gothic" pitchFamily="34" charset="0"/>
            </a:endParaRPr>
          </a:p>
        </c:rich>
      </c:tx>
      <c:layout>
        <c:manualLayout>
          <c:xMode val="edge"/>
          <c:yMode val="edge"/>
          <c:x val="0.43592592592592594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7133056284631081"/>
          <c:y val="0.15914000984251969"/>
          <c:w val="0.50397807912899784"/>
          <c:h val="0.6230097604986877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Never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>
                    <a:latin typeface="Century Gothic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Sheet1!$B$2:$B$5</c:f>
              <c:numCache>
                <c:formatCode>###0%</c:formatCode>
                <c:ptCount val="4"/>
                <c:pt idx="0">
                  <c:v>0.12307692307692308</c:v>
                </c:pt>
                <c:pt idx="1">
                  <c:v>7.1428571428571425E-2</c:v>
                </c:pt>
                <c:pt idx="2">
                  <c:v>0.10071942446043165</c:v>
                </c:pt>
                <c:pt idx="3">
                  <c:v>0.17499999999999999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Seldom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Sheet1!$C$2:$C$5</c:f>
              <c:numCache>
                <c:formatCode>###0%</c:formatCode>
                <c:ptCount val="4"/>
                <c:pt idx="0">
                  <c:v>0.24615384615384617</c:v>
                </c:pt>
                <c:pt idx="1">
                  <c:v>0.15</c:v>
                </c:pt>
                <c:pt idx="2">
                  <c:v>0.12949640287769784</c:v>
                </c:pt>
                <c:pt idx="3">
                  <c:v>0.11666666666666665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Occasionally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Sheet1!$D$2:$D$5</c:f>
              <c:numCache>
                <c:formatCode>###0%</c:formatCode>
                <c:ptCount val="4"/>
                <c:pt idx="0">
                  <c:v>0.23846153846153847</c:v>
                </c:pt>
                <c:pt idx="1">
                  <c:v>0.27857142857142858</c:v>
                </c:pt>
                <c:pt idx="2">
                  <c:v>0.2805755395683453</c:v>
                </c:pt>
                <c:pt idx="3">
                  <c:v>0.24166666666666667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Frequently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Sheet1!$E$2:$E$5</c:f>
              <c:numCache>
                <c:formatCode>###0%</c:formatCode>
                <c:ptCount val="4"/>
                <c:pt idx="0">
                  <c:v>0.26923076923076922</c:v>
                </c:pt>
                <c:pt idx="1">
                  <c:v>0.35714285714285715</c:v>
                </c:pt>
                <c:pt idx="2">
                  <c:v>0.30935251798561153</c:v>
                </c:pt>
                <c:pt idx="3">
                  <c:v>0.25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Always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Sheet1!$F$2:$F$5</c:f>
              <c:numCache>
                <c:formatCode>###0%</c:formatCode>
                <c:ptCount val="4"/>
                <c:pt idx="0">
                  <c:v>0.12307692307692308</c:v>
                </c:pt>
                <c:pt idx="1">
                  <c:v>0.14285714285714285</c:v>
                </c:pt>
                <c:pt idx="2">
                  <c:v>0.17985611510791366</c:v>
                </c:pt>
                <c:pt idx="3">
                  <c:v>0.21666666666666667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52586368"/>
        <c:axId val="52587904"/>
      </c:barChart>
      <c:catAx>
        <c:axId val="52586368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 algn="r">
              <a:defRPr sz="1400">
                <a:latin typeface="Century Gothic" pitchFamily="34" charset="0"/>
              </a:defRPr>
            </a:pPr>
            <a:endParaRPr lang="en-US"/>
          </a:p>
        </c:txPr>
        <c:crossAx val="52587904"/>
        <c:crosses val="autoZero"/>
        <c:auto val="1"/>
        <c:lblAlgn val="ctr"/>
        <c:lblOffset val="100"/>
        <c:noMultiLvlLbl val="0"/>
      </c:catAx>
      <c:valAx>
        <c:axId val="52587904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525863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US" sz="1400" b="0" i="0" u="none" strike="noStrike" kern="1200" baseline="0" dirty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r>
              <a:rPr lang="en-US" sz="1400" b="1" i="0" u="none" strike="noStrike" kern="1200" baseline="0" dirty="0" smtClean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rPr>
              <a:t>2011</a:t>
            </a:r>
            <a:endParaRPr lang="en-US" sz="1400" b="1" i="0" u="none" strike="noStrike" kern="1200" baseline="0" dirty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43567901234567902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47024253912705355"/>
          <c:y val="0.15955751662716919"/>
          <c:w val="0.50397807912899784"/>
          <c:h val="0.652833850314165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Never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>
                    <a:latin typeface="Century Gothic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Sheet1!$B$2:$B$5</c:f>
              <c:numCache>
                <c:formatCode>###0%</c:formatCode>
                <c:ptCount val="4"/>
                <c:pt idx="0">
                  <c:v>0.18</c:v>
                </c:pt>
                <c:pt idx="1">
                  <c:v>0.09</c:v>
                </c:pt>
                <c:pt idx="2">
                  <c:v>0.04</c:v>
                </c:pt>
                <c:pt idx="3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Seldom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dLbl>
              <c:idx val="2"/>
              <c:layout>
                <c:manualLayout>
                  <c:x val="1.543209876543266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Sheet1!$C$2:$C$5</c:f>
              <c:numCache>
                <c:formatCode>###0%</c:formatCode>
                <c:ptCount val="4"/>
                <c:pt idx="0">
                  <c:v>0.16</c:v>
                </c:pt>
                <c:pt idx="1">
                  <c:v>0.16</c:v>
                </c:pt>
                <c:pt idx="2">
                  <c:v>0.11</c:v>
                </c:pt>
                <c:pt idx="3">
                  <c:v>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Occasionally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Sheet1!$D$2:$D$5</c:f>
              <c:numCache>
                <c:formatCode>###0%</c:formatCode>
                <c:ptCount val="4"/>
                <c:pt idx="0">
                  <c:v>0.21</c:v>
                </c:pt>
                <c:pt idx="1">
                  <c:v>0.31</c:v>
                </c:pt>
                <c:pt idx="2">
                  <c:v>0.28000000000000003</c:v>
                </c:pt>
                <c:pt idx="3">
                  <c:v>0.21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Frequently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Sheet1!$E$2:$E$5</c:f>
              <c:numCache>
                <c:formatCode>###0%</c:formatCode>
                <c:ptCount val="4"/>
                <c:pt idx="0">
                  <c:v>0.22</c:v>
                </c:pt>
                <c:pt idx="1">
                  <c:v>0.25</c:v>
                </c:pt>
                <c:pt idx="2">
                  <c:v>0.35</c:v>
                </c:pt>
                <c:pt idx="3">
                  <c:v>0.36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Always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Nonmanagement hourly employees</c:v>
                </c:pt>
                <c:pt idx="1">
                  <c:v>Nonmanagement salaried employees</c:v>
                </c:pt>
                <c:pt idx="2">
                  <c:v>Management (e.g., directors, managers)</c:v>
                </c:pt>
                <c:pt idx="3">
                  <c:v>Executive/upper management (e.g., CEO)</c:v>
                </c:pt>
              </c:strCache>
            </c:strRef>
          </c:cat>
          <c:val>
            <c:numRef>
              <c:f>Sheet1!$F$2:$F$5</c:f>
              <c:numCache>
                <c:formatCode>###0%</c:formatCode>
                <c:ptCount val="4"/>
                <c:pt idx="0">
                  <c:v>0.13</c:v>
                </c:pt>
                <c:pt idx="1">
                  <c:v>0.16</c:v>
                </c:pt>
                <c:pt idx="2">
                  <c:v>0.16</c:v>
                </c:pt>
                <c:pt idx="3">
                  <c:v>0.17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52789632"/>
        <c:axId val="52791168"/>
      </c:barChart>
      <c:catAx>
        <c:axId val="5278963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 algn="r">
              <a:defRPr sz="1400">
                <a:latin typeface="Century Gothic" pitchFamily="34" charset="0"/>
              </a:defRPr>
            </a:pPr>
            <a:endParaRPr lang="en-US"/>
          </a:p>
        </c:txPr>
        <c:crossAx val="52791168"/>
        <c:crosses val="autoZero"/>
        <c:auto val="1"/>
        <c:lblAlgn val="ctr"/>
        <c:lblOffset val="100"/>
        <c:noMultiLvlLbl val="0"/>
      </c:catAx>
      <c:valAx>
        <c:axId val="5279116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5278963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5772892971711869"/>
          <c:y val="0.87391613596750017"/>
          <c:w val="0.6351593030037912"/>
          <c:h val="0.1250734908136483"/>
        </c:manualLayout>
      </c:layout>
      <c:overlay val="0"/>
      <c:txPr>
        <a:bodyPr/>
        <a:lstStyle/>
        <a:p>
          <a:pPr algn="ctr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6077823040368859"/>
          <c:y val="1.6666666666666666E-2"/>
          <c:w val="0.47609439445069374"/>
          <c:h val="0.955223880597014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 (n = 80)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ysClr val="windowText" lastClr="000000"/>
              </a:solidFill>
            </a:ln>
          </c:spPr>
          <c:invertIfNegative val="0"/>
          <c:dLbls>
            <c:dLbl>
              <c:idx val="6"/>
              <c:layout>
                <c:manualLayout>
                  <c:x val="0"/>
                  <c:y val="1.32275132275132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0"/>
                  <c:y val="1.32275132275132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layout>
                <c:manualLayout>
                  <c:x val="-2.976190476190476E-3"/>
                  <c:y val="1.04166666666666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just">
                  <a:defRPr lang="en-US" sz="1300" b="0" i="0" u="none" strike="noStrike" kern="1200" spc="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1"/>
                <c:pt idx="0">
                  <c:v>Other</c:v>
                </c:pt>
                <c:pt idx="1">
                  <c:v>SHRM Connect</c:v>
                </c:pt>
                <c:pt idx="2">
                  <c:v>Foursquare</c:v>
                </c:pt>
                <c:pt idx="3">
                  <c:v>MySpace</c:v>
                </c:pt>
                <c:pt idx="4">
                  <c:v>*Pinterest</c:v>
                </c:pt>
                <c:pt idx="5">
                  <c:v>*YouTube</c:v>
                </c:pt>
                <c:pt idx="6">
                  <c:v>Professional or association social networking site
(other than SHRM Connect)</c:v>
                </c:pt>
                <c:pt idx="7">
                  <c:v>*Google+</c:v>
                </c:pt>
                <c:pt idx="8">
                  <c:v>Twitter</c:v>
                </c:pt>
                <c:pt idx="9">
                  <c:v>Facebook</c:v>
                </c:pt>
                <c:pt idx="10">
                  <c:v>LinkedIn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1"/>
                <c:pt idx="0">
                  <c:v>0.06</c:v>
                </c:pt>
                <c:pt idx="1">
                  <c:v>0.06</c:v>
                </c:pt>
                <c:pt idx="2">
                  <c:v>0.01</c:v>
                </c:pt>
                <c:pt idx="3">
                  <c:v>0.13</c:v>
                </c:pt>
                <c:pt idx="6">
                  <c:v>0.09</c:v>
                </c:pt>
                <c:pt idx="8">
                  <c:v>0.11</c:v>
                </c:pt>
                <c:pt idx="9">
                  <c:v>0.78</c:v>
                </c:pt>
                <c:pt idx="10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2013 (n = 104)</c:v>
                </c:pt>
              </c:strCache>
            </c:strRef>
          </c:tx>
          <c:spPr>
            <a:solidFill>
              <a:srgbClr val="1F497D">
                <a:lumMod val="60000"/>
                <a:lumOff val="40000"/>
              </a:srgbClr>
            </a:solidFill>
            <a:ln>
              <a:solidFill>
                <a:sysClr val="windowText" lastClr="000000"/>
              </a:solidFill>
            </a:ln>
          </c:spPr>
          <c:invertIfNegative val="0"/>
          <c:dLbls>
            <c:dLbl>
              <c:idx val="0"/>
              <c:layout>
                <c:manualLayout>
                  <c:x val="-1.488095238095238E-3"/>
                  <c:y val="-1.32275132275132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76190476190476E-3"/>
                  <c:y val="-7.93650793650793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1.488095238095238E-3"/>
                  <c:y val="-7.93650793650793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0"/>
                  <c:y val="-1.058201058201058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just">
                  <a:defRPr lang="en-US" sz="1300" b="0" i="0" u="none" strike="noStrike" kern="1200" spc="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1"/>
                <c:pt idx="0">
                  <c:v>Other</c:v>
                </c:pt>
                <c:pt idx="1">
                  <c:v>SHRM Connect</c:v>
                </c:pt>
                <c:pt idx="2">
                  <c:v>Foursquare</c:v>
                </c:pt>
                <c:pt idx="3">
                  <c:v>MySpace</c:v>
                </c:pt>
                <c:pt idx="4">
                  <c:v>*Pinterest</c:v>
                </c:pt>
                <c:pt idx="5">
                  <c:v>*YouTube</c:v>
                </c:pt>
                <c:pt idx="6">
                  <c:v>Professional or association social networking site
(other than SHRM Connect)</c:v>
                </c:pt>
                <c:pt idx="7">
                  <c:v>*Google+</c:v>
                </c:pt>
                <c:pt idx="8">
                  <c:v>Twitter</c:v>
                </c:pt>
                <c:pt idx="9">
                  <c:v>Facebook</c:v>
                </c:pt>
                <c:pt idx="10">
                  <c:v>LinkedIn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1"/>
                <c:pt idx="0">
                  <c:v>0.02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0.14000000000000001</c:v>
                </c:pt>
                <c:pt idx="7">
                  <c:v>0.25</c:v>
                </c:pt>
                <c:pt idx="8">
                  <c:v>0.31</c:v>
                </c:pt>
                <c:pt idx="9">
                  <c:v>0.57999999999999996</c:v>
                </c:pt>
                <c:pt idx="10">
                  <c:v>0.92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100166272"/>
        <c:axId val="102409344"/>
      </c:barChart>
      <c:catAx>
        <c:axId val="1001662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 algn="r">
              <a:defRPr sz="1200" b="0" spc="0">
                <a:latin typeface="Century Gothic" pitchFamily="34" charset="0"/>
              </a:defRPr>
            </a:pPr>
            <a:endParaRPr lang="en-US"/>
          </a:p>
        </c:txPr>
        <c:crossAx val="102409344"/>
        <c:crosses val="autoZero"/>
        <c:auto val="1"/>
        <c:lblAlgn val="ctr"/>
        <c:lblOffset val="100"/>
        <c:noMultiLvlLbl val="0"/>
      </c:catAx>
      <c:valAx>
        <c:axId val="102409344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one"/>
        <c:crossAx val="1001662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5993719535058124"/>
          <c:y val="0.43876763451443568"/>
          <c:w val="0.17012232845894262"/>
          <c:h val="0.11725639763779527"/>
        </c:manualLayout>
      </c:layout>
      <c:overlay val="0"/>
      <c:txPr>
        <a:bodyPr/>
        <a:lstStyle/>
        <a:p>
          <a:pPr algn="just">
            <a:defRPr lang="en-US" sz="1400" b="0" i="0" u="none" strike="noStrike" kern="1200" spc="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5129624453106104"/>
          <c:y val="3.6633973384905837E-2"/>
          <c:w val="0.4384450467823951"/>
          <c:h val="0.952003082947961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2008 (n = 471)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prstClr val="black"/>
              </a:solidFill>
            </a:ln>
          </c:spPr>
          <c:invertIfNegative val="0"/>
          <c:dLbls>
            <c:txPr>
              <a:bodyPr/>
              <a:lstStyle/>
              <a:p>
                <a:pPr algn="just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Yes, we have a formal policy prohibiting the use of these sites</c:v>
                </c:pt>
                <c:pt idx="1">
                  <c:v>Yes, we have a formal policy allowing the use of these sites</c:v>
                </c:pt>
                <c:pt idx="2">
                  <c:v>There is no formal policy, but there is an informal policy allowing the use of these sites</c:v>
                </c:pt>
                <c:pt idx="3">
                  <c:v>There is no formal policy, but there is an informal policy prohibiting the use of these sites</c:v>
                </c:pt>
                <c:pt idx="4">
                  <c:v>No, there is no formal or informal policy with regards to the use of these sites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0.03</c:v>
                </c:pt>
                <c:pt idx="1">
                  <c:v>0.02</c:v>
                </c:pt>
                <c:pt idx="2">
                  <c:v>0.1</c:v>
                </c:pt>
                <c:pt idx="3">
                  <c:v>0.13</c:v>
                </c:pt>
                <c:pt idx="4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 (n = 531)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just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Yes, we have a formal policy prohibiting the use of these sites</c:v>
                </c:pt>
                <c:pt idx="1">
                  <c:v>Yes, we have a formal policy allowing the use of these sites</c:v>
                </c:pt>
                <c:pt idx="2">
                  <c:v>There is no formal policy, but there is an informal policy allowing the use of these sites</c:v>
                </c:pt>
                <c:pt idx="3">
                  <c:v>There is no formal policy, but there is an informal policy prohibiting the use of these sites</c:v>
                </c:pt>
                <c:pt idx="4">
                  <c:v>No, there is no formal or informal policy with regards to the use of these sites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7.0000000000000007E-2</c:v>
                </c:pt>
                <c:pt idx="1">
                  <c:v>0.08</c:v>
                </c:pt>
                <c:pt idx="2">
                  <c:v>0.12</c:v>
                </c:pt>
                <c:pt idx="3">
                  <c:v>0.17</c:v>
                </c:pt>
                <c:pt idx="4">
                  <c:v>0.56000000000000005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2013 (n = 593)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just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Yes, we have a formal policy prohibiting the use of these sites</c:v>
                </c:pt>
                <c:pt idx="1">
                  <c:v>Yes, we have a formal policy allowing the use of these sites</c:v>
                </c:pt>
                <c:pt idx="2">
                  <c:v>There is no formal policy, but there is an informal policy allowing the use of these sites</c:v>
                </c:pt>
                <c:pt idx="3">
                  <c:v>There is no formal policy, but there is an informal policy prohibiting the use of these sites</c:v>
                </c:pt>
                <c:pt idx="4">
                  <c:v>No, there is no formal or informal policy with regards to the use of these sites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0.04</c:v>
                </c:pt>
                <c:pt idx="1">
                  <c:v>0.08</c:v>
                </c:pt>
                <c:pt idx="2">
                  <c:v>0.13</c:v>
                </c:pt>
                <c:pt idx="3">
                  <c:v>0.17</c:v>
                </c:pt>
                <c:pt idx="4">
                  <c:v>0.56999999999999995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9"/>
        <c:axId val="102459264"/>
        <c:axId val="102460800"/>
      </c:barChart>
      <c:catAx>
        <c:axId val="1024592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 algn="r">
              <a:defRPr sz="1400" b="0">
                <a:latin typeface="Century Gothic" pitchFamily="34" charset="0"/>
              </a:defRPr>
            </a:pPr>
            <a:endParaRPr lang="en-US"/>
          </a:p>
        </c:txPr>
        <c:crossAx val="102460800"/>
        <c:crosses val="autoZero"/>
        <c:auto val="1"/>
        <c:lblAlgn val="ctr"/>
        <c:lblOffset val="100"/>
        <c:noMultiLvlLbl val="0"/>
      </c:catAx>
      <c:valAx>
        <c:axId val="102460800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one"/>
        <c:crossAx val="102459264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 algn="just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 algn="just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5696497052347911"/>
          <c:y val="0.40125777041027771"/>
          <c:w val="0.18240479413547578"/>
          <c:h val="0.19748445917944471"/>
        </c:manualLayout>
      </c:layout>
      <c:overlay val="0"/>
      <c:txPr>
        <a:bodyPr/>
        <a:lstStyle/>
        <a:p>
          <a:pPr algn="just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55128205128308"/>
          <c:y val="8.1071562483261028E-2"/>
          <c:w val="0.56585497614553271"/>
          <c:h val="0.881513471530341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2008 (n = 208)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prstClr val="black"/>
              </a:solidFill>
            </a:ln>
            <a:effectLst/>
            <a:scene3d>
              <a:camera prst="orthographicFront"/>
              <a:lightRig rig="threePt" dir="t"/>
            </a:scene3d>
            <a:sp3d/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0.11</c:v>
                </c:pt>
                <c:pt idx="1">
                  <c:v>0.89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 (n = 241)</c:v>
                </c:pt>
              </c:strCache>
            </c:strRef>
          </c:tx>
          <c:spPr>
            <a:ln>
              <a:solidFill>
                <a:prstClr val="black"/>
              </a:solidFill>
            </a:ln>
            <a:effectLst/>
            <a:scene3d>
              <a:camera prst="orthographicFront"/>
              <a:lightRig rig="threePt" dir="t"/>
            </a:scene3d>
            <a:sp3d/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0.28999999999999998</c:v>
                </c:pt>
                <c:pt idx="1">
                  <c:v>0.71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2013 (n = 281)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prstClr val="black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0.28000000000000003</c:v>
                </c:pt>
                <c:pt idx="1">
                  <c:v>0.72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0342912"/>
        <c:axId val="110197760"/>
      </c:barChart>
      <c:valAx>
        <c:axId val="11019776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one"/>
        <c:crossAx val="110342912"/>
        <c:crosses val="autoZero"/>
        <c:crossBetween val="between"/>
      </c:valAx>
      <c:catAx>
        <c:axId val="11034291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entury Gothic" pitchFamily="34" charset="0"/>
              </a:defRPr>
            </a:pPr>
            <a:endParaRPr lang="en-US"/>
          </a:p>
        </c:txPr>
        <c:crossAx val="110197760"/>
        <c:crosses val="autoZero"/>
        <c:auto val="1"/>
        <c:lblAlgn val="ctr"/>
        <c:lblOffset val="100"/>
        <c:noMultiLvlLbl val="0"/>
      </c:catAx>
      <c:spPr>
        <a:ln>
          <a:noFill/>
        </a:ln>
      </c:spPr>
    </c:plotArea>
    <c:legend>
      <c:legendPos val="r"/>
      <c:legendEntry>
        <c:idx val="1"/>
        <c:txPr>
          <a:bodyPr/>
          <a:lstStyle/>
          <a:p>
            <a:pPr algn="ct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 algn="ctr">
              <a:defRPr lang="en-US" sz="1400" b="0" i="0" u="none" strike="noStrike" kern="1200" baseline="0">
                <a:solidFill>
                  <a:prstClr val="black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80802201081067504"/>
          <c:y val="0.40125777041027766"/>
          <c:w val="0.18240479413547578"/>
          <c:h val="0.21210434222038038"/>
        </c:manualLayout>
      </c:layout>
      <c:overlay val="0"/>
      <c:txPr>
        <a:bodyPr/>
        <a:lstStyle/>
        <a:p>
          <a:pPr algn="ctr">
            <a:defRPr lang="en-US" sz="1400" b="0" i="0" u="none" strike="noStrike" kern="1200" baseline="0">
              <a:solidFill>
                <a:prstClr val="black"/>
              </a:solidFill>
              <a:latin typeface="Century Gothic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2753164421444362"/>
          <c:y val="4.6222227863740424E-2"/>
          <c:w val="0.54276539071229957"/>
          <c:h val="0.912929044380816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Yes</c:v>
                </c:pt>
              </c:strCache>
            </c:strRef>
          </c:tx>
          <c:spPr>
            <a:solidFill>
              <a:srgbClr val="1F497D">
                <a:lumMod val="60000"/>
                <a:lumOff val="40000"/>
              </a:srgbClr>
            </a:solidFill>
            <a:ln w="9525"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 b="0">
                    <a:latin typeface="Century Gothic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Privately owned for-profit</c:v>
                </c:pt>
                <c:pt idx="1">
                  <c:v>Publicly owned for-profit</c:v>
                </c:pt>
                <c:pt idx="2">
                  <c:v>Nonprofit</c:v>
                </c:pt>
                <c:pt idx="3">
                  <c:v>Government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###0%</c:formatCode>
                <c:ptCount val="5"/>
                <c:pt idx="0">
                  <c:v>0.39200000000000002</c:v>
                </c:pt>
                <c:pt idx="1">
                  <c:v>0.2336</c:v>
                </c:pt>
                <c:pt idx="2">
                  <c:v>0.2208</c:v>
                </c:pt>
                <c:pt idx="3">
                  <c:v>0.1072</c:v>
                </c:pt>
                <c:pt idx="4">
                  <c:v>4.6399999999999997E-2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0553344"/>
        <c:axId val="110556288"/>
      </c:barChart>
      <c:catAx>
        <c:axId val="110553344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 anchor="ctr" anchorCtr="1"/>
          <a:lstStyle/>
          <a:p>
            <a:pPr>
              <a:defRPr sz="1400" b="0">
                <a:latin typeface="Century Gothic" pitchFamily="34" charset="0"/>
              </a:defRPr>
            </a:pPr>
            <a:endParaRPr lang="en-US"/>
          </a:p>
        </c:txPr>
        <c:crossAx val="110556288"/>
        <c:crosses val="autoZero"/>
        <c:auto val="1"/>
        <c:lblAlgn val="ctr"/>
        <c:lblOffset val="100"/>
        <c:noMultiLvlLbl val="0"/>
      </c:catAx>
      <c:valAx>
        <c:axId val="110556288"/>
        <c:scaling>
          <c:orientation val="minMax"/>
        </c:scaling>
        <c:delete val="1"/>
        <c:axPos val="t"/>
        <c:numFmt formatCode="###0%" sourceLinked="1"/>
        <c:majorTickMark val="out"/>
        <c:minorTickMark val="none"/>
        <c:tickLblPos val="none"/>
        <c:crossAx val="11055334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2753164421444362"/>
          <c:y val="4.6222227863740424E-2"/>
          <c:w val="0.57246836100932885"/>
          <c:h val="0.912929044380816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Yes</c:v>
                </c:pt>
              </c:strCache>
            </c:strRef>
          </c:tx>
          <c:spPr>
            <a:solidFill>
              <a:srgbClr val="1F497D">
                <a:lumMod val="60000"/>
                <a:lumOff val="40000"/>
              </a:srgbClr>
            </a:solidFill>
            <a:ln w="9525">
              <a:solidFill>
                <a:schemeClr val="tx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 sz="1400" b="0">
                    <a:latin typeface="Century Gothic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 to 99 employees</c:v>
                </c:pt>
                <c:pt idx="1">
                  <c:v>100 to 499 employees</c:v>
                </c:pt>
                <c:pt idx="2">
                  <c:v>500 to 2,499 employees</c:v>
                </c:pt>
                <c:pt idx="3">
                  <c:v>2,500 to 24,999 employees</c:v>
                </c:pt>
                <c:pt idx="4">
                  <c:v>25,000 or more employees</c:v>
                </c:pt>
              </c:strCache>
            </c:strRef>
          </c:cat>
          <c:val>
            <c:numRef>
              <c:f>Sheet1!$B$2:$B$6</c:f>
              <c:numCache>
                <c:formatCode>###0%</c:formatCode>
                <c:ptCount val="5"/>
                <c:pt idx="0">
                  <c:v>9.90990990990991E-2</c:v>
                </c:pt>
                <c:pt idx="1">
                  <c:v>0.20540540540540542</c:v>
                </c:pt>
                <c:pt idx="2">
                  <c:v>0.34774774774774775</c:v>
                </c:pt>
                <c:pt idx="3">
                  <c:v>0.27027027027027029</c:v>
                </c:pt>
                <c:pt idx="4">
                  <c:v>7.7477477477477477E-2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1182592"/>
        <c:axId val="111185280"/>
      </c:barChart>
      <c:catAx>
        <c:axId val="111182592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 anchor="ctr" anchorCtr="1"/>
          <a:lstStyle/>
          <a:p>
            <a:pPr>
              <a:defRPr sz="1400">
                <a:latin typeface="Century Gothic" pitchFamily="34" charset="0"/>
              </a:defRPr>
            </a:pPr>
            <a:endParaRPr lang="en-US"/>
          </a:p>
        </c:txPr>
        <c:crossAx val="111185280"/>
        <c:crosses val="autoZero"/>
        <c:auto val="1"/>
        <c:lblAlgn val="ctr"/>
        <c:lblOffset val="100"/>
        <c:noMultiLvlLbl val="0"/>
      </c:catAx>
      <c:valAx>
        <c:axId val="111185280"/>
        <c:scaling>
          <c:orientation val="minMax"/>
        </c:scaling>
        <c:delete val="1"/>
        <c:axPos val="t"/>
        <c:numFmt formatCode="###0%" sourceLinked="1"/>
        <c:majorTickMark val="out"/>
        <c:minorTickMark val="none"/>
        <c:tickLblPos val="none"/>
        <c:crossAx val="111182592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</cdr:x>
      <cdr:y>0</cdr:y>
    </cdr:to>
    <cdr:sp macro="" textlink="">
      <cdr:nvSpPr>
        <cdr:cNvPr id="8" name="Straight Connector 7"/>
        <cdr:cNvSpPr/>
      </cdr:nvSpPr>
      <cdr:spPr>
        <a:xfrm xmlns:a="http://schemas.openxmlformats.org/drawingml/2006/main">
          <a:off x="-226771" y="-3416198"/>
          <a:ext cx="0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2CBE4-31C9-574C-B488-5711AAE42152}" type="datetimeFigureOut">
              <a:rPr lang="en-US" smtClean="0"/>
              <a:t>4/10/2013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6555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6555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69FCA-AF0E-5245-AF9B-A8EE12D0E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31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FBEBE-C69D-41A4-B9B9-F410F4040E19}" type="datetimeFigureOut">
              <a:rPr lang="en-US" smtClean="0"/>
              <a:t>4/10/2013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698500"/>
            <a:ext cx="465455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555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5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AC419-CEAB-4280-B2FD-E70093474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6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266CAA-E53F-4070-9461-09025CE678E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8D4DB0-E754-4B9B-B337-E71F482773C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8D4DB0-E754-4B9B-B337-E71F482773C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www.shrm.org/survey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5332788_xxl_web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14500"/>
            <a:ext cx="9144000" cy="5143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84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304801"/>
            <a:ext cx="6629400" cy="762000"/>
          </a:xfrm>
        </p:spPr>
        <p:txBody>
          <a:bodyPr>
            <a:normAutofit/>
          </a:bodyPr>
          <a:lstStyle>
            <a:lvl1pPr algn="l">
              <a:defRPr lang="en-US" sz="2000" b="0" kern="120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Futura Medium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00200" y="1371600"/>
            <a:ext cx="5257800" cy="338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{In collaboration with and commissioned by XXX}</a:t>
            </a:r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6858000" y="1371600"/>
            <a:ext cx="1600200" cy="13716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lvl1pPr>
          </a:lstStyle>
          <a:p>
            <a:r>
              <a:rPr lang="en-US" sz="1200" dirty="0" smtClean="0">
                <a:latin typeface="Century Gothic" pitchFamily="34" charset="0"/>
              </a:rPr>
              <a:t>Insert Client</a:t>
            </a:r>
            <a:r>
              <a:rPr lang="en-US" sz="1200" baseline="0" dirty="0" smtClean="0">
                <a:latin typeface="Century Gothic" pitchFamily="34" charset="0"/>
              </a:rPr>
              <a:t> Logo, 72 dpi jpeg or gif, Max 3.5” x 1.5” (width x height)</a:t>
            </a:r>
            <a:endParaRPr lang="en-US" sz="1200" dirty="0" smtClean="0">
              <a:latin typeface="Century Gothic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304800"/>
            <a:ext cx="1254577" cy="7315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324600"/>
            <a:ext cx="9144000" cy="65627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5715000" y="6477000"/>
            <a:ext cx="2895600" cy="381000"/>
          </a:xfrm>
        </p:spPr>
        <p:txBody>
          <a:bodyPr>
            <a:noAutofit/>
          </a:bodyPr>
          <a:lstStyle>
            <a:lvl1pPr marL="1587" indent="0" algn="r">
              <a:buFontTx/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{Date}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2055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/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>
            <a:lvl1pPr marL="230188" indent="-230188">
              <a:defRPr sz="1400"/>
            </a:lvl1pPr>
            <a:lvl2pPr marL="687388" indent="-230188"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7848600" cy="365125"/>
          </a:xfrm>
          <a:prstGeom prst="rect">
            <a:avLst/>
          </a:prstGeom>
        </p:spPr>
        <p:txBody>
          <a:bodyPr/>
          <a:lstStyle>
            <a:lvl1pPr algn="r">
              <a:defRPr lang="en-US" sz="900" kern="120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+mj-cs"/>
              </a:defRPr>
            </a:lvl1pPr>
          </a:lstStyle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4A2A7044-6EAF-4EF4-BF65-A9788B3B2B3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304800"/>
            <a:ext cx="1254577" cy="731520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981200" y="274638"/>
            <a:ext cx="6705600" cy="761682"/>
          </a:xfrm>
        </p:spPr>
        <p:txBody>
          <a:bodyPr>
            <a:normAutofit/>
          </a:bodyPr>
          <a:lstStyle>
            <a:lvl1pPr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4" name="Picture 3" descr="banner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77184"/>
            <a:ext cx="9144000" cy="45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86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2880"/>
            <a:ext cx="6705600" cy="73152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21823" y="6356350"/>
            <a:ext cx="7883977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9200"/>
            <a:ext cx="9146178" cy="667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182880"/>
            <a:ext cx="1254577" cy="731520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22275" y="6096000"/>
            <a:ext cx="7883525" cy="228600"/>
          </a:xfrm>
        </p:spPr>
        <p:txBody>
          <a:bodyPr>
            <a:noAutofit/>
          </a:bodyPr>
          <a:lstStyle>
            <a:lvl1pPr marL="1587" indent="0">
              <a:buFontTx/>
              <a:buNone/>
              <a:defRPr sz="1000" i="1"/>
            </a:lvl1pPr>
            <a:lvl2pPr marL="457200" indent="0">
              <a:buFontTx/>
              <a:buNone/>
              <a:defRPr sz="900"/>
            </a:lvl2pPr>
            <a:lvl3pPr marL="914400" indent="0">
              <a:buFontTx/>
              <a:buNone/>
              <a:defRPr sz="900"/>
            </a:lvl3pPr>
            <a:lvl4pPr marL="1371600" indent="0">
              <a:buFontTx/>
              <a:buNone/>
              <a:defRPr sz="900"/>
            </a:lvl4pPr>
            <a:lvl5pPr marL="1828800" indent="0"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Chart Placeholder 15"/>
          <p:cNvSpPr>
            <a:spLocks noGrp="1"/>
          </p:cNvSpPr>
          <p:nvPr>
            <p:ph type="chart" sz="quarter" idx="15"/>
          </p:nvPr>
        </p:nvSpPr>
        <p:spPr>
          <a:xfrm>
            <a:off x="592138" y="1676400"/>
            <a:ext cx="7959725" cy="4343400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/>
          </a:p>
        </p:txBody>
      </p:sp>
      <p:pic>
        <p:nvPicPr>
          <p:cNvPr id="3" name="Picture 2" descr="banner2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91023"/>
            <a:ext cx="9144000" cy="30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18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Significant Fin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2880"/>
            <a:ext cx="6705600" cy="73152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21823" y="6356350"/>
            <a:ext cx="7883977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182880"/>
            <a:ext cx="1254577" cy="73152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22275" y="6096000"/>
            <a:ext cx="7883525" cy="228600"/>
          </a:xfrm>
        </p:spPr>
        <p:txBody>
          <a:bodyPr>
            <a:noAutofit/>
          </a:bodyPr>
          <a:lstStyle>
            <a:lvl1pPr marL="1587" indent="0">
              <a:buFontTx/>
              <a:buNone/>
              <a:defRPr sz="1000" i="1"/>
            </a:lvl1pPr>
            <a:lvl2pPr marL="457200" indent="0">
              <a:buFontTx/>
              <a:buNone/>
              <a:defRPr sz="900" i="1"/>
            </a:lvl2pPr>
            <a:lvl3pPr marL="914400" indent="0">
              <a:buFontTx/>
              <a:buNone/>
              <a:defRPr sz="900" i="1"/>
            </a:lvl3pPr>
            <a:lvl4pPr marL="1371600" indent="0">
              <a:buFontTx/>
              <a:buNone/>
              <a:defRPr sz="900" i="1"/>
            </a:lvl4pPr>
            <a:lvl5pPr marL="1828800" indent="0">
              <a:buFontTx/>
              <a:buNone/>
              <a:defRPr sz="900" i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able Placeholder 12"/>
          <p:cNvSpPr>
            <a:spLocks noGrp="1"/>
          </p:cNvSpPr>
          <p:nvPr>
            <p:ph type="tbl" sz="quarter" idx="15"/>
          </p:nvPr>
        </p:nvSpPr>
        <p:spPr>
          <a:xfrm>
            <a:off x="838200" y="1600200"/>
            <a:ext cx="7467600" cy="4343400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 dirty="0"/>
          </a:p>
        </p:txBody>
      </p:sp>
      <p:pic>
        <p:nvPicPr>
          <p:cNvPr id="3" name="Picture 2" descr="banner2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75479"/>
            <a:ext cx="9144000" cy="30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95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7848600" cy="365125"/>
          </a:xfrm>
          <a:prstGeom prst="rect">
            <a:avLst/>
          </a:prstGeom>
        </p:spPr>
        <p:txBody>
          <a:bodyPr/>
          <a:lstStyle>
            <a:lvl1pPr algn="r">
              <a:defRPr lang="en-US" sz="900" kern="120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+mj-cs"/>
              </a:defRPr>
            </a:lvl1pPr>
          </a:lstStyle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4A2A7044-6EAF-4EF4-BF65-A9788B3B2B3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304800"/>
            <a:ext cx="1254577" cy="731520"/>
          </a:xfrm>
          <a:prstGeom prst="rect">
            <a:avLst/>
          </a:prstGeom>
        </p:spPr>
      </p:pic>
      <p:pic>
        <p:nvPicPr>
          <p:cNvPr id="4" name="Picture 3" descr="banner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77184"/>
            <a:ext cx="9144000" cy="456566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095500" y="2895600"/>
            <a:ext cx="4953000" cy="6096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lang="en-US" sz="2800" b="1" i="0" kern="120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Futura Medium"/>
              </a:defRPr>
            </a:lvl1pPr>
          </a:lstStyle>
          <a:p>
            <a:pPr lvl="0"/>
            <a:r>
              <a:rPr lang="en-US" dirty="0" smtClean="0"/>
              <a:t>{Demographics}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803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ttern-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72000"/>
            <a:ext cx="9144000" cy="2286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399"/>
            <a:ext cx="8229600" cy="2743201"/>
          </a:xfrm>
        </p:spPr>
        <p:txBody>
          <a:bodyPr>
            <a:normAutofit/>
          </a:bodyPr>
          <a:lstStyle>
            <a:lvl1pPr>
              <a:defRPr sz="1400"/>
            </a:lvl1pPr>
            <a:lvl2pPr marL="742950" indent="-285750">
              <a:buFont typeface="Wingdings" pitchFamily="2" charset="2"/>
              <a:buChar char="Ø"/>
              <a:defRPr sz="14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Courier New" pitchFamily="49" charset="0"/>
              <a:buChar char="o"/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2A7044-6EAF-4EF4-BF65-A9788B3B2B3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304800"/>
            <a:ext cx="1254577" cy="731520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981200" y="274638"/>
            <a:ext cx="6705600" cy="761682"/>
          </a:xfrm>
        </p:spPr>
        <p:txBody>
          <a:bodyPr>
            <a:normAutofit/>
          </a:bodyPr>
          <a:lstStyle>
            <a:lvl1pPr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1600200" y="1371600"/>
            <a:ext cx="5257800" cy="33832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{In collaboration with and commissioned by XXX}</a:t>
            </a:r>
            <a:endParaRPr lang="en-US" dirty="0"/>
          </a:p>
        </p:txBody>
      </p:sp>
      <p:sp>
        <p:nvSpPr>
          <p:cNvPr id="13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0" y="1371600"/>
            <a:ext cx="1600200" cy="13716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/>
            </a:lvl1pPr>
          </a:lstStyle>
          <a:p>
            <a:r>
              <a:rPr lang="en-US" sz="1200" dirty="0" smtClean="0">
                <a:latin typeface="Century Gothic" pitchFamily="34" charset="0"/>
              </a:rPr>
              <a:t>Insert Client</a:t>
            </a:r>
            <a:r>
              <a:rPr lang="en-US" sz="1200" baseline="0" dirty="0" smtClean="0">
                <a:latin typeface="Century Gothic" pitchFamily="34" charset="0"/>
              </a:rPr>
              <a:t> Logo, 72 dpi jpeg or gif, Max 3.5” x 1.5” (width x height)</a:t>
            </a:r>
            <a:endParaRPr lang="en-US" sz="1200" dirty="0" smtClean="0">
              <a:latin typeface="Century Gothic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1143000"/>
            <a:ext cx="8242300" cy="381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828800"/>
            <a:ext cx="3082925" cy="3810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2000" b="0" i="0" kern="120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Futura Medium"/>
              </a:defRPr>
            </a:lvl1pPr>
          </a:lstStyle>
          <a:p>
            <a:pPr lvl="0"/>
            <a:r>
              <a:rPr lang="en-US" dirty="0" smtClean="0"/>
              <a:t>{Survey Methodology}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57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HRM 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04900" y="2133600"/>
            <a:ext cx="6934200" cy="1600200"/>
          </a:xfrm>
        </p:spPr>
        <p:txBody>
          <a:bodyPr>
            <a:normAutofit/>
          </a:bodyPr>
          <a:lstStyle>
            <a:lvl1pPr marL="0" indent="0" defTabSz="4572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11125" indent="-111125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400" b="0" dirty="0" smtClean="0">
                <a:solidFill>
                  <a:prstClr val="black"/>
                </a:solidFill>
                <a:latin typeface="Century Gothic" pitchFamily="34" charset="0"/>
                <a:ea typeface="+mn-ea"/>
                <a:cs typeface="Akzidenz-Grotesk Pro Regular"/>
              </a:rPr>
              <a:t>{For more survey/poll findings, visit </a:t>
            </a:r>
            <a:r>
              <a:rPr lang="en-US" sz="1400" b="0" dirty="0" smtClean="0">
                <a:solidFill>
                  <a:prstClr val="black"/>
                </a:solidFill>
                <a:latin typeface="Century Gothic" pitchFamily="34" charset="0"/>
                <a:ea typeface="+mn-ea"/>
                <a:cs typeface="Akzidenz-Grotesk Pro Regular"/>
                <a:hlinkClick r:id="rId2"/>
              </a:rPr>
              <a:t>www.shrm.org/surveys</a:t>
            </a:r>
            <a:r>
              <a:rPr lang="en-US" sz="1400" b="0" dirty="0" smtClean="0">
                <a:solidFill>
                  <a:prstClr val="black"/>
                </a:solidFill>
                <a:latin typeface="Century Gothic" pitchFamily="34" charset="0"/>
                <a:ea typeface="+mn-ea"/>
                <a:cs typeface="Akzidenz-Grotesk Pro Regular"/>
              </a:rPr>
              <a:t>, etc.}</a:t>
            </a:r>
          </a:p>
          <a:p>
            <a:pPr marL="111125" indent="-111125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sz="1400" b="0" dirty="0" smtClean="0">
              <a:solidFill>
                <a:prstClr val="black"/>
              </a:solidFill>
              <a:latin typeface="Century Gothic" pitchFamily="34" charset="0"/>
              <a:ea typeface="+mn-ea"/>
              <a:cs typeface="Akzidenz-Grotesk Pro Regular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7848600" cy="365125"/>
          </a:xfrm>
          <a:prstGeom prst="rect">
            <a:avLst/>
          </a:prstGeom>
        </p:spPr>
        <p:txBody>
          <a:bodyPr/>
          <a:lstStyle>
            <a:lvl1pPr algn="r">
              <a:defRPr lang="en-US" sz="900" kern="120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+mj-cs"/>
              </a:defRPr>
            </a:lvl1pPr>
          </a:lstStyle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8" y="1151146"/>
            <a:ext cx="9144000" cy="4490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23" y="304800"/>
            <a:ext cx="1254577" cy="731520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981200" y="274638"/>
            <a:ext cx="6705600" cy="761682"/>
          </a:xfrm>
        </p:spPr>
        <p:txBody>
          <a:bodyPr>
            <a:normAutofit/>
          </a:bodyPr>
          <a:lstStyle>
            <a:lvl1pPr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1104900" y="4038600"/>
            <a:ext cx="6934200" cy="1905000"/>
          </a:xfrm>
        </p:spPr>
        <p:txBody>
          <a:bodyPr>
            <a:noAutofit/>
          </a:bodyPr>
          <a:lstStyle>
            <a:lvl1pPr marL="1587" indent="0" algn="l" defTabSz="457200" rtl="0" fontAlgn="base">
              <a:spcBef>
                <a:spcPct val="0"/>
              </a:spcBef>
              <a:spcAft>
                <a:spcPct val="0"/>
              </a:spcAft>
              <a:buFontTx/>
              <a:buNone/>
              <a:defRPr lang="en-US" sz="1200" b="1" kern="1200" baseline="0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indent="0" algn="l" defTabSz="457200" rtl="0" fontAlgn="base">
              <a:spcBef>
                <a:spcPct val="0"/>
              </a:spcBef>
              <a:spcAft>
                <a:spcPct val="0"/>
              </a:spcAft>
              <a:buFontTx/>
              <a:buNone/>
              <a:defRPr lang="en-US" sz="1200" b="1" kern="1200" dirty="0" smtClean="0">
                <a:solidFill>
                  <a:srgbClr val="1F497D"/>
                </a:solidFill>
                <a:latin typeface="Century Gothic" pitchFamily="34" charset="0"/>
                <a:ea typeface="+mn-ea"/>
                <a:cs typeface="+mn-cs"/>
              </a:defRPr>
            </a:lvl2pPr>
            <a:lvl3pPr marL="914400" indent="0" algn="l" defTabSz="457200" rtl="0" fontAlgn="base">
              <a:spcBef>
                <a:spcPct val="0"/>
              </a:spcBef>
              <a:spcAft>
                <a:spcPct val="0"/>
              </a:spcAft>
              <a:buFontTx/>
              <a:buNone/>
              <a:defRPr lang="en-US" sz="1200" b="1" kern="1200" dirty="0" smtClean="0">
                <a:solidFill>
                  <a:srgbClr val="1F497D"/>
                </a:solidFill>
                <a:latin typeface="Century Gothic" pitchFamily="34" charset="0"/>
                <a:ea typeface="+mn-ea"/>
                <a:cs typeface="+mn-cs"/>
              </a:defRPr>
            </a:lvl3pPr>
            <a:lvl4pPr marL="1371600" indent="0" algn="l" defTabSz="457200" rtl="0" fontAlgn="base">
              <a:spcBef>
                <a:spcPct val="0"/>
              </a:spcBef>
              <a:spcAft>
                <a:spcPct val="0"/>
              </a:spcAft>
              <a:buFontTx/>
              <a:buNone/>
              <a:defRPr lang="en-US" sz="1200" b="1" kern="1200" dirty="0" smtClean="0">
                <a:solidFill>
                  <a:srgbClr val="1F497D"/>
                </a:solidFill>
                <a:latin typeface="Century Gothic" pitchFamily="34" charset="0"/>
                <a:ea typeface="+mn-ea"/>
                <a:cs typeface="+mn-cs"/>
              </a:defRPr>
            </a:lvl4pPr>
            <a:lvl5pPr marL="1828800" indent="0" algn="l" defTabSz="457200" rtl="0" fontAlgn="base">
              <a:spcBef>
                <a:spcPct val="0"/>
              </a:spcBef>
              <a:spcAft>
                <a:spcPct val="0"/>
              </a:spcAft>
              <a:buFontTx/>
              <a:buNone/>
              <a:defRPr lang="en-US" sz="1200" b="1" kern="1200" dirty="0">
                <a:solidFill>
                  <a:srgbClr val="1F497D"/>
                </a:solidFill>
                <a:latin typeface="Century Gothic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{Project leaders, Project contributors, Copy editor:}</a:t>
            </a:r>
          </a:p>
        </p:txBody>
      </p:sp>
    </p:spTree>
    <p:extLst>
      <p:ext uri="{BB962C8B-B14F-4D97-AF65-F5344CB8AC3E}">
        <p14:creationId xmlns:p14="http://schemas.microsoft.com/office/powerpoint/2010/main" val="3307864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7848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36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496472-4D2E-4527-9BA6-A1ACD254ACF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5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670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defRPr>
            </a:lvl1pPr>
          </a:lstStyle>
          <a:p>
            <a:fld id="{4A2A7044-6EAF-4EF4-BF65-A9788B3B2B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7848600" cy="365125"/>
          </a:xfrm>
          <a:prstGeom prst="rect">
            <a:avLst/>
          </a:prstGeom>
        </p:spPr>
        <p:txBody>
          <a:bodyPr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3236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63" r:id="rId4"/>
    <p:sldLayoutId id="2147483664" r:id="rId5"/>
    <p:sldLayoutId id="2147483660" r:id="rId6"/>
    <p:sldLayoutId id="2147483661" r:id="rId7"/>
    <p:sldLayoutId id="2147483655" r:id="rId8"/>
    <p:sldLayoutId id="2147483665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2000" kern="1200" baseline="0" dirty="0">
          <a:solidFill>
            <a:schemeClr val="accent1">
              <a:lumMod val="75000"/>
            </a:schemeClr>
          </a:solidFill>
          <a:latin typeface="Century Gothic" pitchFamily="34" charset="0"/>
          <a:ea typeface="+mn-ea"/>
          <a:cs typeface="+mj-cs"/>
        </a:defRPr>
      </a:lvl1pPr>
    </p:titleStyle>
    <p:bodyStyle>
      <a:lvl1pPr marL="231775" indent="-230188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98513" indent="-341313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720850" indent="-349250" algn="l" defTabSz="914400" rtl="0" eaLnBrk="1" latinLnBrk="0" hangingPunct="1">
        <a:spcBef>
          <a:spcPct val="20000"/>
        </a:spcBef>
        <a:buFont typeface="Wingdings" pitchFamily="2" charset="2"/>
        <a:buChar char="v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rm.org/customizedresearch" TargetMode="External"/><Relationship Id="rId2" Type="http://schemas.openxmlformats.org/officeDocument/2006/relationships/hyperlink" Target="http://www.shrm.org/survey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twitter.com/SHRM_Resear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SHRM </a:t>
            </a:r>
            <a:r>
              <a:rPr lang="en-US" dirty="0"/>
              <a:t>Survey Findings: Social Networking Websites and </a:t>
            </a:r>
            <a:r>
              <a:rPr lang="en-US" dirty="0" smtClean="0"/>
              <a:t>Recruiting/Selection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April 11,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69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 smtClean="0"/>
              <a:t>Organizations are increasingly using social networking sites for recruiting.</a:t>
            </a:r>
            <a:r>
              <a:rPr lang="en-US" dirty="0" smtClean="0"/>
              <a:t> More than three-quarters (77%) of organizations reported using social networking sites to recruit potential job candidates, an increase from 56% in 2011 and 34% in 2008.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Publicly and privately owned for-profit organizations are more likely than nonprofit and government organizations, </a:t>
            </a:r>
            <a:r>
              <a:rPr lang="en-US" dirty="0"/>
              <a:t>and nonprofit organizations are more likely than government </a:t>
            </a:r>
            <a:r>
              <a:rPr lang="en-US" dirty="0" smtClean="0"/>
              <a:t>organizations, </a:t>
            </a:r>
            <a:r>
              <a:rPr lang="en-US" dirty="0"/>
              <a:t>to </a:t>
            </a:r>
            <a:r>
              <a:rPr lang="en-US" dirty="0" smtClean="0"/>
              <a:t>use social networking sites to recruit potential job candidates.</a:t>
            </a:r>
          </a:p>
          <a:p>
            <a:pPr>
              <a:spcAft>
                <a:spcPts val="600"/>
              </a:spcAft>
            </a:pPr>
            <a:r>
              <a:rPr lang="en-US" b="1" dirty="0"/>
              <a:t>Why do organizations use social networking websites to recruit potential job candidates? </a:t>
            </a:r>
            <a:r>
              <a:rPr lang="en-US" dirty="0"/>
              <a:t>The majority (80%) </a:t>
            </a:r>
            <a:r>
              <a:rPr lang="en-US" dirty="0" smtClean="0"/>
              <a:t>say the primary reason is the ability to </a:t>
            </a:r>
            <a:r>
              <a:rPr lang="en-US" dirty="0"/>
              <a:t>recruit passive job candidates who might not otherwise apply or be contacted by </a:t>
            </a:r>
            <a:r>
              <a:rPr lang="en-US" dirty="0" smtClean="0"/>
              <a:t>the </a:t>
            </a:r>
            <a:r>
              <a:rPr lang="en-US" dirty="0"/>
              <a:t>organization.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Compared with 2008 and 2011 data, organizations are increasingly using social networking websites to target candidates with a specific set of skills (69%), to increase employer brand and recognition (67%), and to allow potential candidates to easily contact their organization about employment (57%).</a:t>
            </a:r>
          </a:p>
          <a:p>
            <a:pPr>
              <a:spcAft>
                <a:spcPts val="600"/>
              </a:spcAft>
            </a:pPr>
            <a:r>
              <a:rPr lang="en-US" b="1" dirty="0" smtClean="0"/>
              <a:t>What </a:t>
            </a:r>
            <a:r>
              <a:rPr lang="en-US" b="1" dirty="0"/>
              <a:t>are the reasons that organizations decide NOT to use social networking sites for recruitment? </a:t>
            </a:r>
            <a:r>
              <a:rPr lang="en-US" dirty="0"/>
              <a:t>About one-half of organizations are concerned with legal risks or discovering information about protected characteristics (e.g., age, race, gender, religious affiliation) (52%) or do not have enough HR staff time to use this recruiting method (48%). One </a:t>
            </a:r>
            <a:r>
              <a:rPr lang="en-US" dirty="0" smtClean="0"/>
              <a:t>out of </a:t>
            </a:r>
            <a:r>
              <a:rPr lang="en-US" dirty="0"/>
              <a:t>four (26%) cite questions about the </a:t>
            </a:r>
            <a:r>
              <a:rPr lang="en-US" dirty="0" smtClean="0"/>
              <a:t>accuracy of </a:t>
            </a:r>
            <a:r>
              <a:rPr lang="en-US" dirty="0"/>
              <a:t>the information on social networking websites.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Government organizations are more likely than nonprofit organizations to have concerns about legal risks/discovering information about protected characteristics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Social Networking Websites and Recruiting/Selection ©SHRM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Findings: Recruiting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47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LinkedIn is the most commonly used site for recruitment. </a:t>
            </a:r>
            <a:r>
              <a:rPr lang="en-US" dirty="0"/>
              <a:t>Of those organizations </a:t>
            </a:r>
            <a:r>
              <a:rPr lang="en-US" dirty="0" smtClean="0"/>
              <a:t>that use </a:t>
            </a:r>
            <a:r>
              <a:rPr lang="en-US" dirty="0"/>
              <a:t>social networking sites for recruitment, the vast majority (94%) use LinkedIn. This is followed by Facebook (54%), Twitter (39%) and professional or association social networking sites other than SHRM Connect (29%). Less than </a:t>
            </a:r>
            <a:r>
              <a:rPr lang="en-US" dirty="0" smtClean="0"/>
              <a:t>10% </a:t>
            </a:r>
            <a:r>
              <a:rPr lang="en-US" dirty="0"/>
              <a:t>of organizations use other sites like Google+, YouTube, SHRM Connect, </a:t>
            </a:r>
            <a:r>
              <a:rPr lang="en-US" dirty="0" err="1"/>
              <a:t>Pinterest</a:t>
            </a:r>
            <a:r>
              <a:rPr lang="en-US" dirty="0"/>
              <a:t> and Foursquare.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Publicly owned for-profit </a:t>
            </a:r>
            <a:r>
              <a:rPr lang="en-US" dirty="0"/>
              <a:t>organizations are more likely than nonprofit and government organizations to use LinkedIn to recruit potential job candidates.</a:t>
            </a:r>
          </a:p>
          <a:p>
            <a:pPr>
              <a:spcAft>
                <a:spcPts val="600"/>
              </a:spcAft>
            </a:pPr>
            <a:r>
              <a:rPr lang="en-US" b="1" dirty="0"/>
              <a:t>What job levels do HR professionals typically target when recruiting via social networking websites? </a:t>
            </a:r>
            <a:r>
              <a:rPr lang="en-US" dirty="0" err="1"/>
              <a:t>Nonmanagement</a:t>
            </a:r>
            <a:r>
              <a:rPr lang="en-US" dirty="0"/>
              <a:t> salaried (87%) and management (e.g., directors, managers) (80%) positions are the most commonly targeted job levels. About one-half (48%) of organizations target </a:t>
            </a:r>
            <a:r>
              <a:rPr lang="en-US" dirty="0" err="1"/>
              <a:t>nonmanagement</a:t>
            </a:r>
            <a:r>
              <a:rPr lang="en-US" dirty="0"/>
              <a:t> hourly employees, and 41% target executive/upper management </a:t>
            </a:r>
            <a:r>
              <a:rPr lang="en-US" dirty="0" smtClean="0"/>
              <a:t>positions (e.g</a:t>
            </a:r>
            <a:r>
              <a:rPr lang="en-US" dirty="0"/>
              <a:t>., CEO, CFO</a:t>
            </a:r>
            <a:r>
              <a:rPr lang="en-US" dirty="0" smtClean="0"/>
              <a:t>).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 smtClean="0"/>
              <a:t>What methods do organizations use to recruit potential job candidates using social networking websites?</a:t>
            </a:r>
            <a:r>
              <a:rPr lang="en-US" dirty="0"/>
              <a:t> </a:t>
            </a:r>
            <a:r>
              <a:rPr lang="en-US" dirty="0" smtClean="0"/>
              <a:t>Organizations use social networking sites to search </a:t>
            </a:r>
            <a:r>
              <a:rPr lang="en-US" dirty="0"/>
              <a:t>for passive job candidates </a:t>
            </a:r>
            <a:r>
              <a:rPr lang="en-US" dirty="0" smtClean="0"/>
              <a:t>(</a:t>
            </a:r>
            <a:r>
              <a:rPr lang="en-US" dirty="0"/>
              <a:t>71%), </a:t>
            </a:r>
            <a:r>
              <a:rPr lang="en-US" dirty="0" smtClean="0"/>
              <a:t>create </a:t>
            </a:r>
            <a:r>
              <a:rPr lang="en-US" dirty="0"/>
              <a:t>interest in jobs by posting useful information </a:t>
            </a:r>
            <a:r>
              <a:rPr lang="en-US" dirty="0" smtClean="0"/>
              <a:t>or </a:t>
            </a:r>
            <a:r>
              <a:rPr lang="en-US" dirty="0"/>
              <a:t>contributing to discussion </a:t>
            </a:r>
            <a:r>
              <a:rPr lang="en-US" dirty="0" smtClean="0"/>
              <a:t>(</a:t>
            </a:r>
            <a:r>
              <a:rPr lang="en-US" dirty="0"/>
              <a:t>68%), </a:t>
            </a:r>
            <a:r>
              <a:rPr lang="en-US" dirty="0" smtClean="0"/>
              <a:t>search </a:t>
            </a:r>
            <a:r>
              <a:rPr lang="en-US" dirty="0"/>
              <a:t>for active job candidates </a:t>
            </a:r>
            <a:r>
              <a:rPr lang="en-US" dirty="0" smtClean="0"/>
              <a:t>(66</a:t>
            </a:r>
            <a:r>
              <a:rPr lang="en-US" dirty="0"/>
              <a:t>%), and </a:t>
            </a:r>
            <a:r>
              <a:rPr lang="en-US" dirty="0" smtClean="0"/>
              <a:t>create </a:t>
            </a:r>
            <a:r>
              <a:rPr lang="en-US" dirty="0"/>
              <a:t>a group or page for the organization to post information and career </a:t>
            </a:r>
            <a:r>
              <a:rPr lang="en-US" dirty="0" smtClean="0"/>
              <a:t>opportunities (59%).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Findings: </a:t>
            </a:r>
            <a:r>
              <a:rPr lang="en-US" dirty="0" smtClean="0"/>
              <a:t>Recruiting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2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 smtClean="0"/>
              <a:t>Do </a:t>
            </a:r>
            <a:r>
              <a:rPr lang="en-US" b="1" dirty="0"/>
              <a:t>organizations use social networking </a:t>
            </a:r>
            <a:r>
              <a:rPr lang="en-US" b="1" dirty="0" smtClean="0"/>
              <a:t>websites or online search engines </a:t>
            </a:r>
            <a:r>
              <a:rPr lang="en-US" b="1" dirty="0"/>
              <a:t>to screen job candidates? </a:t>
            </a:r>
            <a:r>
              <a:rPr lang="en-US" dirty="0"/>
              <a:t>About two-thirds </a:t>
            </a:r>
            <a:r>
              <a:rPr lang="en-US" dirty="0" smtClean="0"/>
              <a:t>of </a:t>
            </a:r>
            <a:r>
              <a:rPr lang="en-US" dirty="0"/>
              <a:t>organizations have </a:t>
            </a:r>
            <a:r>
              <a:rPr lang="en-US" dirty="0" smtClean="0"/>
              <a:t>never used </a:t>
            </a:r>
            <a:r>
              <a:rPr lang="en-US" dirty="0"/>
              <a:t>or </a:t>
            </a:r>
            <a:r>
              <a:rPr lang="en-US" dirty="0" smtClean="0"/>
              <a:t>no </a:t>
            </a:r>
            <a:r>
              <a:rPr lang="en-US" dirty="0"/>
              <a:t>longer </a:t>
            </a:r>
            <a:r>
              <a:rPr lang="en-US" dirty="0" smtClean="0"/>
              <a:t>use social </a:t>
            </a:r>
            <a:r>
              <a:rPr lang="en-US" dirty="0"/>
              <a:t>networking </a:t>
            </a:r>
            <a:r>
              <a:rPr lang="en-US" dirty="0" smtClean="0"/>
              <a:t>websites (69%) or online search engines (65%) </a:t>
            </a:r>
            <a:r>
              <a:rPr lang="en-US" dirty="0"/>
              <a:t>to screen job </a:t>
            </a:r>
            <a:r>
              <a:rPr lang="en-US" dirty="0" smtClean="0"/>
              <a:t>candidates. Twenty percent currently </a:t>
            </a:r>
            <a:r>
              <a:rPr lang="en-US" dirty="0"/>
              <a:t>use social networking </a:t>
            </a:r>
            <a:r>
              <a:rPr lang="en-US" dirty="0" smtClean="0"/>
              <a:t>websites for screening, and 28% use online search engines. Twelve percent </a:t>
            </a:r>
            <a:r>
              <a:rPr lang="en-US" dirty="0"/>
              <a:t>plan </a:t>
            </a:r>
            <a:r>
              <a:rPr lang="en-US" dirty="0" smtClean="0"/>
              <a:t>to use social networking websites to screen job candidates, and </a:t>
            </a:r>
            <a:r>
              <a:rPr lang="en-US" dirty="0"/>
              <a:t>7% </a:t>
            </a:r>
            <a:r>
              <a:rPr lang="en-US" dirty="0" smtClean="0"/>
              <a:t>plan to start using online search engines for screening.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Why </a:t>
            </a:r>
            <a:r>
              <a:rPr lang="en-US" b="1" dirty="0" smtClean="0"/>
              <a:t>do organizations NOT use </a:t>
            </a:r>
            <a:r>
              <a:rPr lang="en-US" b="1" dirty="0"/>
              <a:t>social networking websites for screening job candidates? </a:t>
            </a:r>
            <a:r>
              <a:rPr lang="en-US" dirty="0"/>
              <a:t>Three-quarters (74%) of organizations are concerned with legal risks or discovering information about protected characteristics (e.g., age, race, gender, religious affiliation). Sixty-three percent </a:t>
            </a:r>
            <a:r>
              <a:rPr lang="en-US" dirty="0" smtClean="0"/>
              <a:t>say </a:t>
            </a:r>
            <a:r>
              <a:rPr lang="en-US" dirty="0"/>
              <a:t>the information from these sites may not be relevant to </a:t>
            </a:r>
            <a:r>
              <a:rPr lang="en-US" dirty="0" smtClean="0"/>
              <a:t>a candidate’s work-related </a:t>
            </a:r>
            <a:r>
              <a:rPr lang="en-US" dirty="0"/>
              <a:t>potential or performance, and 61% think the information may not be relevant to whether the candidate is a good fit for the organization.</a:t>
            </a:r>
          </a:p>
          <a:p>
            <a:pPr>
              <a:spcAft>
                <a:spcPts val="600"/>
              </a:spcAft>
            </a:pPr>
            <a:r>
              <a:rPr lang="en-US" b="1" dirty="0" smtClean="0"/>
              <a:t>How </a:t>
            </a:r>
            <a:r>
              <a:rPr lang="en-US" b="1" dirty="0"/>
              <a:t>often do organizations use online search engines to screen job candidates? </a:t>
            </a:r>
            <a:r>
              <a:rPr lang="en-US" dirty="0"/>
              <a:t>For organizations that use online search engines to screen job candidates, about </a:t>
            </a:r>
            <a:r>
              <a:rPr lang="en-US" dirty="0" smtClean="0"/>
              <a:t>one-half </a:t>
            </a:r>
            <a:r>
              <a:rPr lang="en-US" dirty="0"/>
              <a:t>frequently or always screen for </a:t>
            </a:r>
            <a:r>
              <a:rPr lang="en-US" dirty="0" err="1"/>
              <a:t>nonmanagement</a:t>
            </a:r>
            <a:r>
              <a:rPr lang="en-US" dirty="0"/>
              <a:t> salaried </a:t>
            </a:r>
            <a:r>
              <a:rPr lang="en-US" dirty="0" smtClean="0"/>
              <a:t>positions (50</a:t>
            </a:r>
            <a:r>
              <a:rPr lang="en-US" dirty="0"/>
              <a:t>%), </a:t>
            </a:r>
            <a:r>
              <a:rPr lang="en-US" dirty="0" smtClean="0"/>
              <a:t>management positions </a:t>
            </a:r>
            <a:r>
              <a:rPr lang="en-US" dirty="0"/>
              <a:t>(49</a:t>
            </a:r>
            <a:r>
              <a:rPr lang="en-US" dirty="0" smtClean="0"/>
              <a:t>%) </a:t>
            </a:r>
            <a:r>
              <a:rPr lang="en-US" dirty="0"/>
              <a:t>and executive/upper management </a:t>
            </a:r>
            <a:r>
              <a:rPr lang="en-US" dirty="0" smtClean="0"/>
              <a:t>positions (47%). </a:t>
            </a:r>
            <a:r>
              <a:rPr lang="en-US" dirty="0"/>
              <a:t>Fewer organizations (39%) frequently or always screen candidates for </a:t>
            </a:r>
            <a:r>
              <a:rPr lang="en-US" dirty="0" err="1" smtClean="0"/>
              <a:t>nonmanagement</a:t>
            </a:r>
            <a:r>
              <a:rPr lang="en-US" dirty="0" smtClean="0"/>
              <a:t> </a:t>
            </a:r>
            <a:r>
              <a:rPr lang="en-US" dirty="0"/>
              <a:t>hourly positions using online search engines</a:t>
            </a:r>
            <a:r>
              <a:rPr lang="en-US" dirty="0" smtClean="0"/>
              <a:t>.</a:t>
            </a:r>
            <a:endParaRPr lang="en-US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Findings: Screening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53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LinkedIn is the most commonly used social networking site for screening job candidates. </a:t>
            </a:r>
            <a:r>
              <a:rPr lang="en-US" dirty="0"/>
              <a:t>Of those organizations that use social networking sites for screening, a large majority (92%) </a:t>
            </a:r>
            <a:r>
              <a:rPr lang="en-US" dirty="0" smtClean="0"/>
              <a:t>use </a:t>
            </a:r>
            <a:r>
              <a:rPr lang="en-US" dirty="0"/>
              <a:t>LinkedIn. This is followed by Facebook (58%), Twitter (31%), Google+ (25%), and professional or association social networking sites other than SHRM Connect (14%). Less than </a:t>
            </a:r>
            <a:r>
              <a:rPr lang="en-US" dirty="0" smtClean="0"/>
              <a:t>10% </a:t>
            </a:r>
            <a:r>
              <a:rPr lang="en-US" dirty="0"/>
              <a:t>of organizations use other sites like YouTube, </a:t>
            </a:r>
            <a:r>
              <a:rPr lang="en-US" dirty="0" err="1"/>
              <a:t>Pinterest</a:t>
            </a:r>
            <a:r>
              <a:rPr lang="en-US" dirty="0"/>
              <a:t>, MySpace, </a:t>
            </a:r>
            <a:r>
              <a:rPr lang="en-US" dirty="0" smtClean="0"/>
              <a:t>Foursquare </a:t>
            </a:r>
            <a:r>
              <a:rPr lang="en-US" dirty="0"/>
              <a:t>and </a:t>
            </a:r>
            <a:r>
              <a:rPr lang="en-US" dirty="0" smtClean="0"/>
              <a:t>SHRM Connect.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Compared with 2011 data, more organizations are using LinkedIn, Twitter and professional or association social networking sites for screening job candidates, and fewer are using Facebook and MySpace.</a:t>
            </a:r>
          </a:p>
          <a:p>
            <a:pPr>
              <a:spcAft>
                <a:spcPts val="600"/>
              </a:spcAft>
            </a:pPr>
            <a:r>
              <a:rPr lang="en-US" b="1" dirty="0" smtClean="0"/>
              <a:t>Do </a:t>
            </a:r>
            <a:r>
              <a:rPr lang="en-US" b="1" dirty="0"/>
              <a:t>organizations have a policy regarding the use of social networking websites to screen job candidates? </a:t>
            </a:r>
            <a:r>
              <a:rPr lang="en-US" dirty="0" smtClean="0"/>
              <a:t>More than </a:t>
            </a:r>
            <a:r>
              <a:rPr lang="en-US" dirty="0"/>
              <a:t>one-half (57%) of organizations </a:t>
            </a:r>
            <a:r>
              <a:rPr lang="en-US" u="sng" dirty="0"/>
              <a:t>do not</a:t>
            </a:r>
            <a:r>
              <a:rPr lang="en-US" dirty="0"/>
              <a:t> have a formal or informal policy with regards to screening candidates via social networking websites. Of organizations that have a formal or informal policy, 21% prohibit the use of these sites and 21% allow the use of these sites.</a:t>
            </a:r>
          </a:p>
          <a:p>
            <a:pPr lvl="1">
              <a:spcAft>
                <a:spcPts val="600"/>
              </a:spcAft>
            </a:pPr>
            <a:r>
              <a:rPr lang="en-US" dirty="0" smtClean="0"/>
              <a:t>Privately owned for-profit </a:t>
            </a:r>
            <a:r>
              <a:rPr lang="en-US" dirty="0"/>
              <a:t>and government organizations are more likely than </a:t>
            </a:r>
            <a:r>
              <a:rPr lang="en-US" dirty="0" smtClean="0"/>
              <a:t>publicly owned for-profit </a:t>
            </a:r>
            <a:r>
              <a:rPr lang="en-US" dirty="0"/>
              <a:t>organizations to have no formal or informal policy.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Of those organizations that currently do not have a formal policy, 28% plan to implement one within the next 12 months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Findings: Screening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8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 smtClean="0"/>
              <a:t>Using social </a:t>
            </a:r>
            <a:r>
              <a:rPr lang="en-US" b="1" dirty="0"/>
              <a:t>networking </a:t>
            </a:r>
            <a:r>
              <a:rPr lang="en-US" b="1" dirty="0" smtClean="0"/>
              <a:t>websites for recruiting could give HR professionals a competitive advantage in attracting talent. </a:t>
            </a:r>
            <a:r>
              <a:rPr lang="en-US" dirty="0" smtClean="0"/>
              <a:t>Many HR professionals are using social networking websites as a tool to recruit passive </a:t>
            </a:r>
            <a:r>
              <a:rPr lang="en-US" dirty="0"/>
              <a:t>job candidates who might not otherwise apply or be contacted by </a:t>
            </a:r>
            <a:r>
              <a:rPr lang="en-US" dirty="0" smtClean="0"/>
              <a:t>the organization. Another frequently cited reason for using social networking websites is  to recruit for positions that require certain skills.</a:t>
            </a:r>
          </a:p>
          <a:p>
            <a:pPr>
              <a:spcAft>
                <a:spcPts val="600"/>
              </a:spcAft>
            </a:pPr>
            <a:r>
              <a:rPr lang="en-US" b="1" dirty="0" smtClean="0"/>
              <a:t>HR professionals could benefit from using social networking websites to increase brand recognition and generate interest in their organization. </a:t>
            </a:r>
            <a:r>
              <a:rPr lang="en-US" dirty="0" smtClean="0"/>
              <a:t>Many HR professionals are posting useful information to websites and contributing to discussions as an indirect means of recruitment.</a:t>
            </a:r>
          </a:p>
          <a:p>
            <a:pPr>
              <a:spcAft>
                <a:spcPts val="600"/>
              </a:spcAft>
            </a:pPr>
            <a:r>
              <a:rPr lang="en-US" b="1" dirty="0" smtClean="0"/>
              <a:t>Organizations may want to consider whether they need policies related to recruiting and screening job candidates via social networking websites.</a:t>
            </a:r>
            <a:r>
              <a:rPr lang="en-US" dirty="0" smtClean="0"/>
              <a:t> Over the past five years, a growing number of HR professionals have been using social networking websites for recruitment. In addition, about one-quarter of</a:t>
            </a:r>
            <a:r>
              <a:rPr lang="en-US" dirty="0"/>
              <a:t> organizations </a:t>
            </a:r>
            <a:r>
              <a:rPr lang="en-US" dirty="0" smtClean="0"/>
              <a:t>use online </a:t>
            </a:r>
            <a:r>
              <a:rPr lang="en-US" dirty="0"/>
              <a:t>search engines </a:t>
            </a:r>
            <a:r>
              <a:rPr lang="en-US" dirty="0" smtClean="0"/>
              <a:t>or social </a:t>
            </a:r>
            <a:r>
              <a:rPr lang="en-US" dirty="0"/>
              <a:t>networking websites to screen job </a:t>
            </a:r>
            <a:r>
              <a:rPr lang="en-US" dirty="0" smtClean="0"/>
              <a:t>candidates. Yet, more than one-half of organizations do not currently have a policy regarding the use of social networking websites for screening job candidates. The </a:t>
            </a:r>
            <a:r>
              <a:rPr lang="en-US" dirty="0"/>
              <a:t>primary </a:t>
            </a:r>
            <a:r>
              <a:rPr lang="en-US" dirty="0" smtClean="0"/>
              <a:t>reasons HR professionals cite </a:t>
            </a:r>
            <a:r>
              <a:rPr lang="en-US" dirty="0"/>
              <a:t>for not using </a:t>
            </a:r>
            <a:r>
              <a:rPr lang="en-US" dirty="0" smtClean="0"/>
              <a:t>social networking websites for recruitment and screening are </a:t>
            </a:r>
            <a:r>
              <a:rPr lang="en-US" dirty="0"/>
              <a:t>the legal risks, the lack of the job-relatedness of much of the information found online, privacy concerns, and the  lack of verifiable data. 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these findings mean for the HR profession?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8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2095500" y="2895600"/>
            <a:ext cx="4953000" cy="1524000"/>
          </a:xfrm>
        </p:spPr>
        <p:txBody>
          <a:bodyPr/>
          <a:lstStyle/>
          <a:p>
            <a:r>
              <a:rPr lang="en-US" dirty="0" smtClean="0"/>
              <a:t>Using Social Networking Websites for </a:t>
            </a:r>
            <a:r>
              <a:rPr lang="en-US" i="1" dirty="0" smtClean="0"/>
              <a:t>Recruiting</a:t>
            </a:r>
            <a:r>
              <a:rPr lang="en-US" dirty="0" smtClean="0"/>
              <a:t>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59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Has your organization ever used social networking websites to recruit potential job </a:t>
            </a:r>
            <a:r>
              <a:rPr lang="en-US" dirty="0" smtClean="0"/>
              <a:t>candidates, </a:t>
            </a:r>
            <a:r>
              <a:rPr lang="en-US" dirty="0"/>
              <a:t>or does your organization plan to </a:t>
            </a:r>
            <a:r>
              <a:rPr lang="en-US" dirty="0" smtClean="0"/>
              <a:t>do so in </a:t>
            </a:r>
            <a:r>
              <a:rPr lang="en-US" dirty="0"/>
              <a:t>the future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Note:  Percentages may not total 100% due to rounding. Respondents who answered “don’t know” were excluded from this analysis.</a:t>
            </a: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139515155"/>
              </p:ext>
            </p:extLst>
          </p:nvPr>
        </p:nvGraphicFramePr>
        <p:xfrm>
          <a:off x="304800" y="1524000"/>
          <a:ext cx="7959725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4857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The Use of Social Networking Websites to Recruit Potential Job Candidates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6621-4E9B-4240-8665-517886F74C1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587" lvl="1"/>
            <a:r>
              <a:rPr lang="en-US" sz="1000" dirty="0"/>
              <a:t>Note: Only statistically significant differences are shown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21533"/>
              </p:ext>
            </p:extLst>
          </p:nvPr>
        </p:nvGraphicFramePr>
        <p:xfrm>
          <a:off x="381000" y="2692400"/>
          <a:ext cx="838200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Publicly owned</a:t>
                      </a:r>
                      <a:r>
                        <a:rPr lang="en-US" sz="1100" kern="1200" baseline="0" dirty="0" smtClean="0"/>
                        <a:t> for-profit </a:t>
                      </a:r>
                      <a:r>
                        <a:rPr lang="en-US" sz="1100" kern="1200" dirty="0" smtClean="0"/>
                        <a:t>(87%)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Privately owned for-profit (84%)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Nonprofit (69%)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(48%)</a:t>
                      </a:r>
                    </a:p>
                  </a:txBody>
                  <a:tcPr marL="83959" marR="83959" anchor="ctr"/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Nonprofit (69%)</a:t>
                      </a: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>
                          <a:latin typeface="Century Gothic" pitchFamily="34" charset="0"/>
                        </a:rPr>
                        <a:t>&gt;</a:t>
                      </a: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(48%)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147560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Century Gothic" pitchFamily="34" charset="0"/>
              </a:rPr>
              <a:t>Comparisons by organization sector</a:t>
            </a:r>
            <a:endParaRPr lang="en-US" sz="1200" b="1" dirty="0">
              <a:latin typeface="Century Gothic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" y="1778913"/>
            <a:ext cx="838200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P</a:t>
            </a:r>
            <a:r>
              <a:rPr lang="en-US" sz="1100" dirty="0" smtClean="0">
                <a:latin typeface="Century Gothic" pitchFamily="34" charset="0"/>
              </a:rPr>
              <a:t>ublicly </a:t>
            </a:r>
            <a:r>
              <a:rPr lang="en-US" sz="1100" dirty="0">
                <a:latin typeface="Century Gothic" pitchFamily="34" charset="0"/>
              </a:rPr>
              <a:t>owned for-profit </a:t>
            </a:r>
            <a:r>
              <a:rPr lang="en-US" sz="1100" dirty="0" smtClean="0">
                <a:latin typeface="Century Gothic" pitchFamily="34" charset="0"/>
              </a:rPr>
              <a:t>and privately </a:t>
            </a:r>
            <a:r>
              <a:rPr lang="en-US" sz="1100" b="0" dirty="0" smtClean="0">
                <a:latin typeface="Century Gothic" pitchFamily="34" charset="0"/>
              </a:rPr>
              <a:t>owned for-profit organizations are more likely than nonprofit and government organizations to 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use social networking sites to recruit potential job candidates.</a:t>
            </a:r>
          </a:p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Century Gothic" pitchFamily="34" charset="0"/>
              </a:rPr>
              <a:t> 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Nonprofit organizations are more likely than government organizations to use social networking sites to recruit potential job candidates.</a:t>
            </a:r>
            <a:endParaRPr lang="en-US" sz="1100" b="0" dirty="0" smtClean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8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Organizations Are Using Social Networking Websites for Staffing or Recruiting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74675" y="6019800"/>
            <a:ext cx="7883525" cy="228600"/>
          </a:xfrm>
        </p:spPr>
        <p:txBody>
          <a:bodyPr/>
          <a:lstStyle/>
          <a:p>
            <a:r>
              <a:rPr lang="en-US" dirty="0" smtClean="0"/>
              <a:t>Note: Excludes respondents who indicated their organization currently does not use social networking websites to recruit potential job candidates.  Totals do not equal 100% due to multiple response options.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490603"/>
              </p:ext>
            </p:extLst>
          </p:nvPr>
        </p:nvGraphicFramePr>
        <p:xfrm>
          <a:off x="589788" y="1524000"/>
          <a:ext cx="7964425" cy="43891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769865"/>
                <a:gridCol w="731520"/>
                <a:gridCol w="731520"/>
                <a:gridCol w="731520"/>
              </a:tblGrid>
              <a:tr h="548640">
                <a:tc>
                  <a:txBody>
                    <a:bodyPr/>
                    <a:lstStyle/>
                    <a:p>
                      <a:pPr marL="116205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Reasons</a:t>
                      </a:r>
                      <a:r>
                        <a:rPr lang="en-US" sz="1400" b="1" i="0" baseline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 for Using Social Networking Websites for Recruiting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/>
                        <a:t>2008</a:t>
                      </a:r>
                    </a:p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/>
                        <a:t>(n = 125)</a:t>
                      </a:r>
                      <a:endParaRPr lang="en-US" sz="1000" b="1" i="1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/>
                        <a:t>2011</a:t>
                      </a:r>
                    </a:p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/>
                        <a:t>(n = 277)</a:t>
                      </a:r>
                      <a:endParaRPr lang="en-US" sz="1000" b="1" i="1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2013</a:t>
                      </a:r>
                    </a:p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 = 485)</a:t>
                      </a:r>
                      <a:endParaRPr 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To be able to </a:t>
                      </a:r>
                      <a:r>
                        <a:rPr lang="en-US" sz="1400" u="none" strike="noStrike" dirty="0"/>
                        <a:t>recruit passive job candidates who might not otherwise apply or be contacted by </a:t>
                      </a:r>
                      <a:r>
                        <a:rPr lang="en-US" sz="1400" u="none" strike="noStrike" dirty="0" smtClean="0"/>
                        <a:t>the organization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69%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84%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en-US" sz="1400" b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baseline="0" dirty="0" smtClean="0"/>
                        <a:t>To be able to</a:t>
                      </a:r>
                      <a:r>
                        <a:rPr lang="en-US" sz="1400" u="none" strike="noStrike" dirty="0" smtClean="0"/>
                        <a:t> </a:t>
                      </a:r>
                      <a:r>
                        <a:rPr lang="en-US" sz="1400" u="none" strike="noStrike" dirty="0"/>
                        <a:t>target job candidates with a very specific set of skills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38%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52%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69%</a:t>
                      </a:r>
                      <a:endParaRPr lang="en-US" sz="1400" b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/>
                        <a:t>To increase employer brand and recognition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35%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60%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67%</a:t>
                      </a:r>
                      <a:endParaRPr lang="en-US" sz="1400" b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To</a:t>
                      </a:r>
                      <a:r>
                        <a:rPr lang="en-US" sz="1400" u="none" strike="noStrike" baseline="0" dirty="0" smtClean="0"/>
                        <a:t> allow</a:t>
                      </a:r>
                      <a:r>
                        <a:rPr lang="en-US" sz="1400" u="none" strike="noStrike" dirty="0" smtClean="0"/>
                        <a:t> </a:t>
                      </a:r>
                      <a:r>
                        <a:rPr lang="en-US" sz="1400" u="none" strike="noStrike" dirty="0"/>
                        <a:t>potential job candidates to easily contact </a:t>
                      </a:r>
                      <a:r>
                        <a:rPr lang="en-US" sz="1400" u="none" strike="noStrike" dirty="0" smtClean="0"/>
                        <a:t>the </a:t>
                      </a:r>
                      <a:r>
                        <a:rPr lang="en-US" sz="1400" u="none" strike="noStrike" dirty="0"/>
                        <a:t>organization about employment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29%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47%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57%</a:t>
                      </a:r>
                      <a:endParaRPr lang="en-US" sz="1400" b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It</a:t>
                      </a:r>
                      <a:r>
                        <a:rPr lang="en-US" sz="1400" u="none" strike="noStrike" baseline="0" dirty="0" smtClean="0"/>
                        <a:t> is l</a:t>
                      </a:r>
                      <a:r>
                        <a:rPr lang="en-US" sz="1400" u="none" strike="noStrike" dirty="0" smtClean="0"/>
                        <a:t>ess </a:t>
                      </a:r>
                      <a:r>
                        <a:rPr lang="en-US" sz="1400" u="none" strike="noStrike" dirty="0"/>
                        <a:t>expensive than other methods of recruiting job candidates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--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/>
                        <a:t>67%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  <a:endParaRPr lang="en-US" sz="1400" b="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To be</a:t>
                      </a:r>
                      <a:r>
                        <a:rPr lang="en-US" sz="1400" u="none" strike="noStrike" baseline="0" dirty="0" smtClean="0"/>
                        <a:t> able </a:t>
                      </a:r>
                      <a:r>
                        <a:rPr lang="en-US" sz="1400" u="none" strike="noStrike" dirty="0" smtClean="0"/>
                        <a:t>to </a:t>
                      </a:r>
                      <a:r>
                        <a:rPr lang="en-US" sz="1400" u="none" strike="noStrike" dirty="0"/>
                        <a:t>target a specific job level to recruit or contact </a:t>
                      </a:r>
                      <a:r>
                        <a:rPr lang="en-US" sz="1400" u="none" strike="noStrike" dirty="0" smtClean="0"/>
                        <a:t>(e.g., </a:t>
                      </a:r>
                      <a:r>
                        <a:rPr lang="en-US" sz="1400" u="none" strike="noStrike" dirty="0"/>
                        <a:t>entry level, managers, </a:t>
                      </a:r>
                      <a:r>
                        <a:rPr lang="en-US" sz="1400" u="none" strike="noStrike" dirty="0" smtClean="0"/>
                        <a:t>executives)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40%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54%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To</a:t>
                      </a:r>
                      <a:r>
                        <a:rPr lang="en-US" sz="1400" u="none" strike="noStrike" baseline="0" dirty="0" smtClean="0"/>
                        <a:t> be able</a:t>
                      </a:r>
                      <a:r>
                        <a:rPr lang="en-US" sz="1400" u="none" strike="noStrike" dirty="0" smtClean="0"/>
                        <a:t> </a:t>
                      </a:r>
                      <a:r>
                        <a:rPr lang="en-US" sz="1400" u="none" strike="noStrike" dirty="0"/>
                        <a:t>to target a specific geographic region in which to recruit job candidates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44%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45%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43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Organizations Are Using Social Networking Websites for Staffing or Recruiting (continued)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574675" y="6019800"/>
            <a:ext cx="7883525" cy="228600"/>
          </a:xfrm>
        </p:spPr>
        <p:txBody>
          <a:bodyPr/>
          <a:lstStyle/>
          <a:p>
            <a:r>
              <a:rPr lang="en-US" dirty="0" smtClean="0"/>
              <a:t>Note: Excludes respondents who indicated their organization currently does not use social networking websites to recruit potential job candidates.  Totals do not equal 100% due to multiple response options.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81071"/>
              </p:ext>
            </p:extLst>
          </p:nvPr>
        </p:nvGraphicFramePr>
        <p:xfrm>
          <a:off x="592270" y="1554480"/>
          <a:ext cx="7964424" cy="43891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768496"/>
                <a:gridCol w="731976"/>
                <a:gridCol w="731976"/>
                <a:gridCol w="731976"/>
              </a:tblGrid>
              <a:tr h="548640">
                <a:tc>
                  <a:txBody>
                    <a:bodyPr/>
                    <a:lstStyle/>
                    <a:p>
                      <a:pPr marL="116205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Reasons</a:t>
                      </a:r>
                      <a:r>
                        <a:rPr lang="en-US" sz="1400" b="1" i="0" baseline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 for Using Social Networking Websites for Recruiting (continued)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/>
                        <a:t>2008</a:t>
                      </a:r>
                    </a:p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/>
                        <a:t>(n = 125)</a:t>
                      </a:r>
                      <a:endParaRPr lang="en-US" sz="1000" b="1" i="1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/>
                        <a:t>2011</a:t>
                      </a:r>
                    </a:p>
                    <a:p>
                      <a:pPr marL="38100" marR="381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/>
                        <a:t>(n = 277)</a:t>
                      </a:r>
                      <a:endParaRPr lang="en-US" sz="1000" b="1" i="1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2013</a:t>
                      </a:r>
                    </a:p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 = 485)</a:t>
                      </a:r>
                      <a:endParaRPr lang="en-US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To</a:t>
                      </a:r>
                      <a:r>
                        <a:rPr lang="en-US" sz="1400" u="none" strike="noStrike" baseline="0" dirty="0" smtClean="0"/>
                        <a:t> be a</a:t>
                      </a:r>
                      <a:r>
                        <a:rPr lang="en-US" sz="1400" u="none" strike="noStrike" dirty="0" smtClean="0"/>
                        <a:t>ble </a:t>
                      </a:r>
                      <a:r>
                        <a:rPr lang="en-US" sz="1400" u="none" strike="noStrike" dirty="0"/>
                        <a:t>to identify potential job candidates in other geographic regions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--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It results </a:t>
                      </a:r>
                      <a:r>
                        <a:rPr lang="en-US" sz="1400" u="none" strike="noStrike" dirty="0"/>
                        <a:t>in more qualified job candidates relative to the amount of time and effort invested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27%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To be able to effectively disseminate job- </a:t>
                      </a:r>
                      <a:r>
                        <a:rPr lang="en-US" sz="1400" u="none" strike="noStrike" dirty="0"/>
                        <a:t>and </a:t>
                      </a:r>
                      <a:r>
                        <a:rPr lang="en-US" sz="1400" u="none" strike="noStrike" dirty="0" smtClean="0"/>
                        <a:t>organization-related </a:t>
                      </a:r>
                      <a:r>
                        <a:rPr lang="en-US" sz="1400" u="none" strike="noStrike" dirty="0"/>
                        <a:t>information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18%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/>
                        <a:t>To create an online community focused on </a:t>
                      </a:r>
                      <a:r>
                        <a:rPr lang="en-US" sz="1400" u="none" strike="noStrike" dirty="0" smtClean="0"/>
                        <a:t>the organization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18%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It results </a:t>
                      </a:r>
                      <a:r>
                        <a:rPr lang="en-US" sz="1400" u="none" strike="noStrike" dirty="0"/>
                        <a:t>in a large quantity of job candidates relative to the amount of time and effort invested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20%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29%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 smtClean="0"/>
                        <a:t>It enables</a:t>
                      </a:r>
                      <a:r>
                        <a:rPr lang="en-US" sz="1400" u="none" strike="noStrike" baseline="0" dirty="0" smtClean="0"/>
                        <a:t> us to</a:t>
                      </a:r>
                      <a:r>
                        <a:rPr lang="en-US" sz="1400" u="none" strike="noStrike" dirty="0" smtClean="0"/>
                        <a:t> </a:t>
                      </a:r>
                      <a:r>
                        <a:rPr lang="en-US" sz="1400" u="none" strike="noStrike" dirty="0"/>
                        <a:t>better target traditionally underrepresented groups (e.g., women, minorities, veterans, people with </a:t>
                      </a:r>
                      <a:r>
                        <a:rPr lang="en-US" sz="1400" u="none" strike="noStrike" dirty="0" smtClean="0"/>
                        <a:t>disabilities)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--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22%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486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/>
                        <a:t>Other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/>
                        <a:t>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1%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08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Organizations Are NOT Using Social Networking Websites for Staffing or Recruiting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50875" y="6096000"/>
            <a:ext cx="7883525" cy="228600"/>
          </a:xfrm>
        </p:spPr>
        <p:txBody>
          <a:bodyPr/>
          <a:lstStyle/>
          <a:p>
            <a:r>
              <a:rPr lang="en-US" dirty="0" smtClean="0"/>
              <a:t>Note:  Excludes respondents who indicated their organization currently uses social networking websites to recruit potential job candidates.  Totals do not equal 100% due to multiple response options.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4353"/>
              </p:ext>
            </p:extLst>
          </p:nvPr>
        </p:nvGraphicFramePr>
        <p:xfrm>
          <a:off x="632460" y="1524000"/>
          <a:ext cx="7882128" cy="4526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955088"/>
                <a:gridCol w="963520"/>
                <a:gridCol w="963520"/>
              </a:tblGrid>
              <a:tr h="502920">
                <a:tc>
                  <a:txBody>
                    <a:bodyPr/>
                    <a:lstStyle/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Reasons for NOT Using Social Networking Websites for Recruiting</a:t>
                      </a:r>
                      <a:endParaRPr lang="en-US" sz="1400" b="1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2011</a:t>
                      </a:r>
                    </a:p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 = 259)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2013</a:t>
                      </a:r>
                    </a:p>
                    <a:p>
                      <a:pPr marL="0" marR="381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 = 143)</a:t>
                      </a:r>
                    </a:p>
                  </a:txBody>
                  <a:tcPr marL="0" marR="0" marT="0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Concerns about legal risks/discovering information about protected characteristics (e.g., age, race, gender, religious </a:t>
                      </a:r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affiliation)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53%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</a:t>
                      </a:r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enough HR staff time to use this recruiting method in addition to others</a:t>
                      </a: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Questions about the veracity of the information contained on social networking websites</a:t>
                      </a: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Lack of knowledge </a:t>
                      </a:r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skills to </a:t>
                      </a:r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recruit using this </a:t>
                      </a:r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method among HR staff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Social networking websites do not have job candidates at the job level that </a:t>
                      </a:r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 is targeting</a:t>
                      </a: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Smaller </a:t>
                      </a:r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quantity of job candidates relative to the amount of time and effort invested</a:t>
                      </a: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</a:t>
                      </a:r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qualified job candidates relative to the amount of time and effort invested</a:t>
                      </a: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0292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</a:t>
                      </a:r>
                    </a:p>
                  </a:txBody>
                  <a:tcPr marL="82296" marR="9144" marT="9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12%</a:t>
                      </a:r>
                      <a:endParaRPr lang="en-US" sz="1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08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Reasons Organizations Are NOT Using Social Networking Websites for Staffing or Recruiting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6621-4E9B-4240-8665-517886F74C1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587" lvl="1"/>
            <a:r>
              <a:rPr lang="en-US" sz="1000" dirty="0"/>
              <a:t>Note: Only statistically significant differences are shown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5926422"/>
              </p:ext>
            </p:extLst>
          </p:nvPr>
        </p:nvGraphicFramePr>
        <p:xfrm>
          <a:off x="381000" y="2299312"/>
          <a:ext cx="8382000" cy="109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5486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</a:t>
                      </a:r>
                    </a:p>
                    <a:p>
                      <a:pPr algn="ctr"/>
                      <a:r>
                        <a:rPr lang="en-US" sz="1100" kern="1200" dirty="0" smtClean="0"/>
                        <a:t>Concerns about legal risks/discovering information about protected characteristics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(74%)</a:t>
                      </a: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Nonprofit (34%)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147560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Century Gothic" pitchFamily="34" charset="0"/>
              </a:rPr>
              <a:t>Comparisons by organization sector</a:t>
            </a:r>
            <a:endParaRPr lang="en-US" sz="1200" b="1" dirty="0">
              <a:latin typeface="Century Gothic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" y="1778913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Government </a:t>
            </a:r>
            <a:r>
              <a:rPr lang="en-US" sz="1100" dirty="0" smtClean="0">
                <a:latin typeface="Century Gothic" pitchFamily="34" charset="0"/>
              </a:rPr>
              <a:t>organizations </a:t>
            </a:r>
            <a:r>
              <a:rPr lang="en-US" sz="1100" dirty="0">
                <a:latin typeface="Century Gothic" pitchFamily="34" charset="0"/>
              </a:rPr>
              <a:t>are more likely than </a:t>
            </a:r>
            <a:r>
              <a:rPr lang="en-US" sz="1100" dirty="0" smtClean="0">
                <a:latin typeface="Century Gothic" pitchFamily="34" charset="0"/>
              </a:rPr>
              <a:t>nonprofit organizations </a:t>
            </a:r>
            <a:r>
              <a:rPr lang="en-US" sz="1100" dirty="0">
                <a:latin typeface="Century Gothic" pitchFamily="34" charset="0"/>
              </a:rPr>
              <a:t>to </a:t>
            </a:r>
            <a:r>
              <a:rPr lang="en-US" sz="1100" dirty="0" smtClean="0">
                <a:latin typeface="Century Gothic" pitchFamily="34" charset="0"/>
              </a:rPr>
              <a:t>have concerns </a:t>
            </a:r>
            <a:r>
              <a:rPr lang="en-US" sz="1100" dirty="0">
                <a:latin typeface="Century Gothic" pitchFamily="34" charset="0"/>
              </a:rPr>
              <a:t>about legal risks/discovering information about protected characteristics (e.g., age, race, gender, religious </a:t>
            </a:r>
            <a:r>
              <a:rPr lang="en-US" sz="1100" dirty="0" smtClean="0">
                <a:latin typeface="Century Gothic" pitchFamily="34" charset="0"/>
              </a:rPr>
              <a:t>affiliation)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332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Networking Websites Used Most Often by Organizations for Recruitment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04801" y="6019800"/>
            <a:ext cx="8686800" cy="228600"/>
          </a:xfrm>
        </p:spPr>
        <p:txBody>
          <a:bodyPr/>
          <a:lstStyle/>
          <a:p>
            <a:r>
              <a:rPr lang="en-US" dirty="0" smtClean="0"/>
              <a:t>Note: (2013 n = 484; 2011 n= 277).  Excludes respondents who indicated their organization currently does not use social networking websites to recruit potential job candidates. Total does not equal 100% due to multiple response options. An asterisk (*) indicates this response option was not available in 2011.</a:t>
            </a:r>
            <a:endParaRPr lang="en-US" dirty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006010"/>
              </p:ext>
            </p:extLst>
          </p:nvPr>
        </p:nvGraphicFramePr>
        <p:xfrm>
          <a:off x="342900" y="1500438"/>
          <a:ext cx="8458200" cy="4519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1038"/>
                <a:gridCol w="853581"/>
                <a:gridCol w="853581"/>
              </a:tblGrid>
              <a:tr h="346213">
                <a:tc>
                  <a:txBody>
                    <a:bodyPr/>
                    <a:lstStyle/>
                    <a:p>
                      <a:pPr marL="5715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Social Networking Websites Used for Recruitment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2011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2013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b="1" dirty="0">
                          <a:latin typeface="Century Gothic" pitchFamily="34" charset="0"/>
                        </a:rPr>
                        <a:t>LinkedIn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1" dirty="0" smtClean="0">
                          <a:latin typeface="Century Gothic" pitchFamily="34" charset="0"/>
                        </a:rPr>
                        <a:t>95%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94%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Facebook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58%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54%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7680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Twitter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42%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39%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55514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Professional or association social networking site other than SHRM Connect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23%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29%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50126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Google+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*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8%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50126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YouTube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*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8%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SHRM Connect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6%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5%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Pinterest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*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4%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Foursquare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1%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1%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MySpace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3%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0%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Second Life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1%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0%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6213">
                <a:tc>
                  <a:txBody>
                    <a:bodyPr/>
                    <a:lstStyle/>
                    <a:p>
                      <a:pPr marL="5715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5725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Other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dirty="0">
                          <a:latin typeface="Century Gothic" pitchFamily="34" charset="0"/>
                        </a:rPr>
                        <a:t>6%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45820" algn="l"/>
                        </a:tabLst>
                      </a:pP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2%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0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Social Networking Websites Used Most Often by Organizations for Recruitment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6621-4E9B-4240-8665-517886F74C1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587" lvl="1"/>
            <a:r>
              <a:rPr lang="en-US" sz="1000" dirty="0"/>
              <a:t>Note: Only statistically significant differences are shown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428756"/>
              </p:ext>
            </p:extLst>
          </p:nvPr>
        </p:nvGraphicFramePr>
        <p:xfrm>
          <a:off x="381000" y="2286000"/>
          <a:ext cx="8382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 LinkedIn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Publicly owned</a:t>
                      </a:r>
                      <a:r>
                        <a:rPr lang="en-US" sz="1100" kern="1200" baseline="0" dirty="0" smtClean="0"/>
                        <a:t> for-profit </a:t>
                      </a:r>
                      <a:r>
                        <a:rPr lang="en-US" sz="1100" kern="1200" dirty="0" smtClean="0"/>
                        <a:t>(99%)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Nonprofit (88%)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(86%)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147560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Century Gothic" pitchFamily="34" charset="0"/>
              </a:rPr>
              <a:t>Comparisons by organization sector</a:t>
            </a:r>
            <a:endParaRPr lang="en-US" sz="1200" b="1" dirty="0">
              <a:latin typeface="Century Gothic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" y="1778913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P</a:t>
            </a:r>
            <a:r>
              <a:rPr lang="en-US" sz="1100" dirty="0" smtClean="0">
                <a:latin typeface="Century Gothic" pitchFamily="34" charset="0"/>
              </a:rPr>
              <a:t>ublicly </a:t>
            </a:r>
            <a:r>
              <a:rPr lang="en-US" sz="1100" dirty="0">
                <a:latin typeface="Century Gothic" pitchFamily="34" charset="0"/>
              </a:rPr>
              <a:t>owned for-profit </a:t>
            </a:r>
            <a:r>
              <a:rPr lang="en-US" sz="1100" b="0" dirty="0" smtClean="0">
                <a:latin typeface="Century Gothic" pitchFamily="34" charset="0"/>
              </a:rPr>
              <a:t>organizations are more likely than nonprofit and government organizations to 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use LinkedIn to recruit potential job candidates.</a:t>
            </a:r>
          </a:p>
        </p:txBody>
      </p:sp>
    </p:spTree>
    <p:extLst>
      <p:ext uri="{BB962C8B-B14F-4D97-AF65-F5344CB8AC3E}">
        <p14:creationId xmlns:p14="http://schemas.microsoft.com/office/powerpoint/2010/main" val="253024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Targeted Job Levels Organizations Are Attempting to Fill When </a:t>
            </a:r>
            <a:br>
              <a:rPr lang="en-US" dirty="0" smtClean="0"/>
            </a:br>
            <a:r>
              <a:rPr lang="en-US" dirty="0" smtClean="0"/>
              <a:t>Using Social Networking Websites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422275" y="5943600"/>
            <a:ext cx="7883525" cy="228600"/>
          </a:xfrm>
        </p:spPr>
        <p:txBody>
          <a:bodyPr/>
          <a:lstStyle/>
          <a:p>
            <a:r>
              <a:rPr lang="en-US" dirty="0" smtClean="0"/>
              <a:t>Note:  Excludes respondents who indicated their organization currently does not use social networking websites to recruit potential job candidates.  Totals do not equal 100% due to multiple response options. </a:t>
            </a:r>
            <a:r>
              <a:rPr lang="en-US" dirty="0"/>
              <a:t>Respondents who answered “don’t know” were excluded from this analysis.</a:t>
            </a:r>
          </a:p>
        </p:txBody>
      </p:sp>
      <p:graphicFrame>
        <p:nvGraphicFramePr>
          <p:cNvPr id="5" name="Content Placeholder 5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403797072"/>
              </p:ext>
            </p:extLst>
          </p:nvPr>
        </p:nvGraphicFramePr>
        <p:xfrm>
          <a:off x="609600" y="1447800"/>
          <a:ext cx="7959725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92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Targeted Job Levels Organizations Are Attempting to Fill When </a:t>
            </a:r>
            <a:br>
              <a:rPr lang="en-US" dirty="0"/>
            </a:br>
            <a:r>
              <a:rPr lang="en-US" dirty="0"/>
              <a:t>Using Social Networking Websites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6621-4E9B-4240-8665-517886F74C1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587" lvl="1"/>
            <a:r>
              <a:rPr lang="en-US" sz="1000" dirty="0"/>
              <a:t>Note: Only statistically significant differences are shown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499448"/>
              </p:ext>
            </p:extLst>
          </p:nvPr>
        </p:nvGraphicFramePr>
        <p:xfrm>
          <a:off x="381000" y="2299312"/>
          <a:ext cx="8382000" cy="109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5486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</a:t>
                      </a:r>
                    </a:p>
                    <a:p>
                      <a:pPr algn="ctr"/>
                      <a:r>
                        <a:rPr lang="en-US" sz="1100" kern="1200" dirty="0" err="1" smtClean="0"/>
                        <a:t>Nonmanagement</a:t>
                      </a:r>
                      <a:r>
                        <a:rPr lang="en-US" sz="1100" kern="1200" dirty="0" smtClean="0"/>
                        <a:t> salaried employees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Publicly owned</a:t>
                      </a:r>
                      <a:r>
                        <a:rPr lang="en-US" sz="1100" kern="1200" baseline="0" dirty="0" smtClean="0"/>
                        <a:t> for-profit </a:t>
                      </a:r>
                      <a:r>
                        <a:rPr lang="en-US" sz="1100" kern="1200" dirty="0" smtClean="0"/>
                        <a:t>(89%)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Privately owned for-profit (91%)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(66%)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147560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Century Gothic" pitchFamily="34" charset="0"/>
              </a:rPr>
              <a:t>Comparisons by organization sector</a:t>
            </a:r>
            <a:endParaRPr lang="en-US" sz="1200" b="1" dirty="0">
              <a:latin typeface="Century Gothic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" y="1778913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P</a:t>
            </a:r>
            <a:r>
              <a:rPr lang="en-US" sz="1100" dirty="0" smtClean="0">
                <a:latin typeface="Century Gothic" pitchFamily="34" charset="0"/>
              </a:rPr>
              <a:t>ublicly </a:t>
            </a:r>
            <a:r>
              <a:rPr lang="en-US" sz="1100" dirty="0">
                <a:latin typeface="Century Gothic" pitchFamily="34" charset="0"/>
              </a:rPr>
              <a:t>owned for-profit </a:t>
            </a:r>
            <a:r>
              <a:rPr lang="en-US" sz="1100" dirty="0" smtClean="0">
                <a:latin typeface="Century Gothic" pitchFamily="34" charset="0"/>
              </a:rPr>
              <a:t>and privately </a:t>
            </a:r>
            <a:r>
              <a:rPr lang="en-US" sz="1100" b="0" dirty="0" smtClean="0">
                <a:latin typeface="Century Gothic" pitchFamily="34" charset="0"/>
              </a:rPr>
              <a:t>owned for-profit organizations are more likely than government organizations to target </a:t>
            </a:r>
            <a:r>
              <a:rPr lang="en-US" sz="1100" b="0" dirty="0" err="1" smtClean="0">
                <a:latin typeface="Century Gothic" pitchFamily="34" charset="0"/>
              </a:rPr>
              <a:t>nonmanagement</a:t>
            </a:r>
            <a:r>
              <a:rPr lang="en-US" sz="1100" b="0" dirty="0" smtClean="0">
                <a:latin typeface="Century Gothic" pitchFamily="34" charset="0"/>
              </a:rPr>
              <a:t> salaried employees when 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using social networking sites to recruit potential job candidates.</a:t>
            </a:r>
          </a:p>
        </p:txBody>
      </p:sp>
    </p:spTree>
    <p:extLst>
      <p:ext uri="{BB962C8B-B14F-4D97-AF65-F5344CB8AC3E}">
        <p14:creationId xmlns:p14="http://schemas.microsoft.com/office/powerpoint/2010/main" val="186989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Organizations Recruit Potential Job Candidates Using Social Networking Websites?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422275" y="5943600"/>
            <a:ext cx="8188325" cy="228600"/>
          </a:xfrm>
        </p:spPr>
        <p:txBody>
          <a:bodyPr/>
          <a:lstStyle/>
          <a:p>
            <a:r>
              <a:rPr lang="en-US" dirty="0" smtClean="0"/>
              <a:t>Note: Excludes respondents who indicated their organization currently does not use social networking websites to recruit potential job candidates. Totals do not equal 100% due to multiple response options</a:t>
            </a:r>
            <a:r>
              <a:rPr lang="en-US" dirty="0"/>
              <a:t>. An asterisk (*) indicates this response option was not available in 2011.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4134789330"/>
              </p:ext>
            </p:extLst>
          </p:nvPr>
        </p:nvGraphicFramePr>
        <p:xfrm>
          <a:off x="381000" y="1447800"/>
          <a:ext cx="8610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29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How Do Organizations Recruit Potential Job Candidates Using Social Networking Websites?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6621-4E9B-4240-8665-517886F74C1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22275" y="6324600"/>
            <a:ext cx="7883525" cy="228600"/>
          </a:xfrm>
        </p:spPr>
        <p:txBody>
          <a:bodyPr/>
          <a:lstStyle/>
          <a:p>
            <a:pPr marL="1587" lvl="1"/>
            <a:r>
              <a:rPr lang="en-US" sz="1000" dirty="0"/>
              <a:t>Note: Only statistically significant differences are shown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9579418"/>
              </p:ext>
            </p:extLst>
          </p:nvPr>
        </p:nvGraphicFramePr>
        <p:xfrm>
          <a:off x="381000" y="2194560"/>
          <a:ext cx="8382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</a:t>
                      </a:r>
                    </a:p>
                    <a:p>
                      <a:pPr algn="ctr"/>
                      <a:r>
                        <a:rPr lang="en-US" sz="1100" kern="1200" dirty="0" smtClean="0"/>
                        <a:t>Search for </a:t>
                      </a:r>
                      <a:r>
                        <a:rPr lang="en-US" sz="1100" u="sng" kern="1200" dirty="0" smtClean="0"/>
                        <a:t>passive</a:t>
                      </a:r>
                      <a:r>
                        <a:rPr lang="en-US" sz="1100" kern="1200" dirty="0" smtClean="0"/>
                        <a:t> job candidates by using the social networking website's search feature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Publicly owned</a:t>
                      </a:r>
                      <a:r>
                        <a:rPr lang="en-US" sz="1100" kern="1200" baseline="0" dirty="0" smtClean="0"/>
                        <a:t> for-profit </a:t>
                      </a:r>
                      <a:r>
                        <a:rPr lang="en-US" sz="1100" kern="1200" dirty="0" smtClean="0"/>
                        <a:t>(79%)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Privately owned for-profit (80%)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Nonprofit (55%)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(41%)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1447800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Century Gothic" pitchFamily="34" charset="0"/>
              </a:rPr>
              <a:t>Comparisons by organization sector</a:t>
            </a:r>
            <a:endParaRPr lang="en-US" sz="1200" b="1" dirty="0">
              <a:latin typeface="Century Gothic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" y="1748433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P</a:t>
            </a:r>
            <a:r>
              <a:rPr lang="en-US" sz="1100" dirty="0" smtClean="0">
                <a:latin typeface="Century Gothic" pitchFamily="34" charset="0"/>
              </a:rPr>
              <a:t>ublicly </a:t>
            </a:r>
            <a:r>
              <a:rPr lang="en-US" sz="1100" dirty="0">
                <a:latin typeface="Century Gothic" pitchFamily="34" charset="0"/>
              </a:rPr>
              <a:t>owned for-profit </a:t>
            </a:r>
            <a:r>
              <a:rPr lang="en-US" sz="1100" dirty="0" smtClean="0">
                <a:latin typeface="Century Gothic" pitchFamily="34" charset="0"/>
              </a:rPr>
              <a:t>and privately </a:t>
            </a:r>
            <a:r>
              <a:rPr lang="en-US" sz="1100" b="0" dirty="0" smtClean="0">
                <a:latin typeface="Century Gothic" pitchFamily="34" charset="0"/>
              </a:rPr>
              <a:t>owned for-profit organizations are more likely than nonprofit and government organizations to s</a:t>
            </a:r>
            <a:r>
              <a:rPr lang="en-US" sz="1100" dirty="0" smtClean="0"/>
              <a:t>earch </a:t>
            </a:r>
            <a:r>
              <a:rPr lang="en-US" sz="1100" dirty="0"/>
              <a:t>for passive job candidates by using the social networking website's search </a:t>
            </a:r>
            <a:r>
              <a:rPr lang="en-US" sz="1100" dirty="0" smtClean="0"/>
              <a:t>feature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.</a:t>
            </a:r>
          </a:p>
        </p:txBody>
      </p:sp>
      <p:graphicFrame>
        <p:nvGraphicFramePr>
          <p:cNvPr id="11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557403"/>
              </p:ext>
            </p:extLst>
          </p:nvPr>
        </p:nvGraphicFramePr>
        <p:xfrm>
          <a:off x="381000" y="3750054"/>
          <a:ext cx="8382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</a:t>
                      </a:r>
                    </a:p>
                    <a:p>
                      <a:pPr algn="ctr"/>
                      <a:r>
                        <a:rPr lang="en-US" sz="1100" kern="1200" dirty="0" smtClean="0"/>
                        <a:t>Create interest in jobs by posting useful information or contributing to discussion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Publicly owned</a:t>
                      </a:r>
                      <a:r>
                        <a:rPr lang="en-US" sz="1100" kern="1200" baseline="0" dirty="0" smtClean="0"/>
                        <a:t> for-profit </a:t>
                      </a:r>
                      <a:r>
                        <a:rPr lang="en-US" sz="1100" kern="1200" dirty="0" smtClean="0"/>
                        <a:t>(75%)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Privately owned for-profit (73%)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Nonprofit (55%)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1000" y="3352800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P</a:t>
            </a:r>
            <a:r>
              <a:rPr lang="en-US" sz="1100" dirty="0" smtClean="0">
                <a:latin typeface="Century Gothic" pitchFamily="34" charset="0"/>
              </a:rPr>
              <a:t>ublicly owned for-profit and privately </a:t>
            </a:r>
            <a:r>
              <a:rPr lang="en-US" sz="1100" dirty="0">
                <a:latin typeface="Century Gothic" pitchFamily="34" charset="0"/>
              </a:rPr>
              <a:t>owned for-profit organizations are more likely than nonprofit </a:t>
            </a:r>
            <a:r>
              <a:rPr lang="en-US" sz="1100" dirty="0" smtClean="0">
                <a:latin typeface="Century Gothic" pitchFamily="34" charset="0"/>
              </a:rPr>
              <a:t>organizations </a:t>
            </a:r>
            <a:r>
              <a:rPr lang="en-US" sz="1100" dirty="0">
                <a:latin typeface="Century Gothic" pitchFamily="34" charset="0"/>
              </a:rPr>
              <a:t>to </a:t>
            </a:r>
            <a:r>
              <a:rPr lang="en-US" sz="1100" dirty="0" smtClean="0">
                <a:latin typeface="Century Gothic" pitchFamily="34" charset="0"/>
              </a:rPr>
              <a:t>create </a:t>
            </a:r>
            <a:r>
              <a:rPr lang="en-US" sz="1100" dirty="0">
                <a:latin typeface="Century Gothic" pitchFamily="34" charset="0"/>
              </a:rPr>
              <a:t>interest in jobs by posting useful information </a:t>
            </a:r>
            <a:r>
              <a:rPr lang="en-US" sz="1100" dirty="0" smtClean="0">
                <a:latin typeface="Century Gothic" pitchFamily="34" charset="0"/>
              </a:rPr>
              <a:t>or </a:t>
            </a:r>
            <a:r>
              <a:rPr lang="en-US" sz="1100" dirty="0">
                <a:latin typeface="Century Gothic" pitchFamily="34" charset="0"/>
              </a:rPr>
              <a:t>contributing to discussion through social networking </a:t>
            </a:r>
            <a:r>
              <a:rPr lang="en-US" sz="1100" dirty="0" smtClean="0">
                <a:latin typeface="Century Gothic" pitchFamily="34" charset="0"/>
              </a:rPr>
              <a:t>websites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.</a:t>
            </a:r>
          </a:p>
        </p:txBody>
      </p:sp>
      <p:graphicFrame>
        <p:nvGraphicFramePr>
          <p:cNvPr id="13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7151794"/>
              </p:ext>
            </p:extLst>
          </p:nvPr>
        </p:nvGraphicFramePr>
        <p:xfrm>
          <a:off x="381000" y="5300367"/>
          <a:ext cx="838200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</a:t>
                      </a:r>
                    </a:p>
                    <a:p>
                      <a:pPr algn="ctr"/>
                      <a:r>
                        <a:rPr lang="en-US" sz="1100" dirty="0" smtClean="0">
                          <a:latin typeface="Century Gothic" pitchFamily="34" charset="0"/>
                        </a:rPr>
                        <a:t>Search for </a:t>
                      </a:r>
                      <a:r>
                        <a:rPr lang="en-US" sz="1100" u="sng" dirty="0" smtClean="0">
                          <a:latin typeface="Century Gothic" pitchFamily="34" charset="0"/>
                        </a:rPr>
                        <a:t>active</a:t>
                      </a:r>
                      <a:r>
                        <a:rPr lang="en-US" sz="1100" u="none" dirty="0" smtClean="0">
                          <a:latin typeface="Century Gothic" pitchFamily="34" charset="0"/>
                        </a:rPr>
                        <a:t> </a:t>
                      </a:r>
                      <a:r>
                        <a:rPr lang="en-US" sz="1100" dirty="0" smtClean="0">
                          <a:latin typeface="Century Gothic" pitchFamily="34" charset="0"/>
                        </a:rPr>
                        <a:t>job candidates by using the social networking website’s search feature</a:t>
                      </a:r>
                      <a:endParaRPr lang="en-US" sz="1100" kern="1200" dirty="0" smtClean="0"/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Privately owned for-profit (76%)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/>
                        <a:t>Nonprofit (53%)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(48%)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1000" y="4869480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dirty="0" smtClean="0">
                <a:latin typeface="Century Gothic" pitchFamily="34" charset="0"/>
              </a:rPr>
              <a:t> Privately </a:t>
            </a:r>
            <a:r>
              <a:rPr lang="en-US" sz="1100" dirty="0">
                <a:latin typeface="Century Gothic" pitchFamily="34" charset="0"/>
              </a:rPr>
              <a:t>owned for-profit organizations are more likely than nonprofit and government organizations to </a:t>
            </a:r>
            <a:r>
              <a:rPr lang="en-US" sz="1100" dirty="0" smtClean="0">
                <a:latin typeface="Century Gothic" pitchFamily="34" charset="0"/>
              </a:rPr>
              <a:t>search </a:t>
            </a:r>
            <a:r>
              <a:rPr lang="en-US" sz="1100" dirty="0">
                <a:latin typeface="Century Gothic" pitchFamily="34" charset="0"/>
              </a:rPr>
              <a:t>for active job candidates by using the social networking website’s search </a:t>
            </a:r>
            <a:r>
              <a:rPr lang="en-US" sz="1100" dirty="0" smtClean="0">
                <a:latin typeface="Century Gothic" pitchFamily="34" charset="0"/>
              </a:rPr>
              <a:t>feature</a:t>
            </a:r>
            <a:r>
              <a:rPr lang="en-US" sz="1100" dirty="0" smtClean="0">
                <a:solidFill>
                  <a:srgbClr val="000000"/>
                </a:solidFill>
                <a:latin typeface="Century Gothic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66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Using Social Networking Websites for </a:t>
            </a:r>
            <a:r>
              <a:rPr lang="en-US" i="1" dirty="0" smtClean="0"/>
              <a:t>Screening</a:t>
            </a:r>
            <a:r>
              <a:rPr lang="en-US" dirty="0" smtClean="0"/>
              <a:t>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99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Has your organization used social networking websites or online search engines to screen job candidates at any point in the hiring process, or does it plan to do so?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22275" y="6172200"/>
            <a:ext cx="8264525" cy="228600"/>
          </a:xfrm>
        </p:spPr>
        <p:txBody>
          <a:bodyPr/>
          <a:lstStyle/>
          <a:p>
            <a:r>
              <a:rPr lang="en-US" dirty="0"/>
              <a:t>Note: Total may not equal 100% due to rounding. Respondents who answered “don’t know” were excluded from these analyses.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580956993"/>
              </p:ext>
            </p:extLst>
          </p:nvPr>
        </p:nvGraphicFramePr>
        <p:xfrm>
          <a:off x="1295400" y="1524000"/>
          <a:ext cx="6553200" cy="175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776036260"/>
              </p:ext>
            </p:extLst>
          </p:nvPr>
        </p:nvGraphicFramePr>
        <p:xfrm>
          <a:off x="152400" y="3276600"/>
          <a:ext cx="883920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9120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/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1666029660"/>
              </p:ext>
            </p:extLst>
          </p:nvPr>
        </p:nvGraphicFramePr>
        <p:xfrm>
          <a:off x="350031" y="1524000"/>
          <a:ext cx="8439911" cy="4572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972210"/>
                <a:gridCol w="822567"/>
                <a:gridCol w="822567"/>
                <a:gridCol w="822567"/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1400" i="0" dirty="0" smtClean="0">
                          <a:latin typeface="Century Gothic" pitchFamily="34" charset="0"/>
                        </a:rPr>
                        <a:t>Reasons for NOT </a:t>
                      </a:r>
                      <a:r>
                        <a:rPr lang="en-US" sz="1400" i="0" baseline="0" dirty="0" smtClean="0">
                          <a:latin typeface="Century Gothic" pitchFamily="34" charset="0"/>
                        </a:rPr>
                        <a:t>Using Social Networking Websites for Screening</a:t>
                      </a:r>
                      <a:endParaRPr lang="en-US" sz="1400" i="0" dirty="0">
                        <a:latin typeface="Century Gothic" pitchFamily="34" charset="0"/>
                      </a:endParaRPr>
                    </a:p>
                  </a:txBody>
                  <a:tcPr marL="104199" marR="10419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2008</a:t>
                      </a:r>
                    </a:p>
                    <a:p>
                      <a:pPr algn="ctr"/>
                      <a:r>
                        <a:rPr lang="en-US" sz="1000" dirty="0" smtClean="0"/>
                        <a:t>(n = 337)</a:t>
                      </a:r>
                      <a:endParaRPr lang="en-US" sz="1000" b="0" i="1" dirty="0" smtClean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marL="104199" marR="1041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2011</a:t>
                      </a:r>
                    </a:p>
                    <a:p>
                      <a:pPr algn="ctr"/>
                      <a:r>
                        <a:rPr lang="en-US" sz="1000" dirty="0" smtClean="0"/>
                        <a:t>(n</a:t>
                      </a:r>
                      <a:r>
                        <a:rPr lang="en-US" sz="1000" baseline="0" dirty="0" smtClean="0"/>
                        <a:t> = 461)</a:t>
                      </a:r>
                      <a:endParaRPr lang="en-US" sz="1000" b="0" i="1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marL="104199" marR="10419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2013</a:t>
                      </a:r>
                    </a:p>
                    <a:p>
                      <a:pPr algn="ctr"/>
                      <a:r>
                        <a:rPr lang="en-US" sz="1000" dirty="0" smtClean="0"/>
                        <a:t>(n = 406)</a:t>
                      </a:r>
                      <a:endParaRPr lang="en-US" sz="1000" b="0" i="1" dirty="0" smtClean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marL="104199" marR="104199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Concern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about legal risks/discovering information about protected characteristics (e.g., age, race, gender, religious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affiliation)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54%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66%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74%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latin typeface="Century Gothic" pitchFamily="34" charset="0"/>
                        </a:rPr>
                        <a:t>Information about job candidates taken from these sites may not be relevant to their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work-related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potential or performance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36%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45%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63%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latin typeface="Century Gothic" pitchFamily="34" charset="0"/>
                        </a:rPr>
                        <a:t>Information about job candidates taken from these sites may not be relevant to whether they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are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a good fit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for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the organization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26%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33%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61%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latin typeface="Century Gothic" pitchFamily="34" charset="0"/>
                        </a:rPr>
                        <a:t>Concerns about invading the privacy of job candidates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40%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33%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48%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Inability to verify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with confidence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the information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from an applicant’s social networking page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43%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48%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47%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latin typeface="Century Gothic" pitchFamily="34" charset="0"/>
                        </a:rPr>
                        <a:t>Not all job candidates have information on social networking sites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*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34%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entury Gothic" pitchFamily="34" charset="0"/>
                        </a:rPr>
                        <a:t>43%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It</a:t>
                      </a:r>
                      <a:r>
                        <a:rPr lang="en-US" sz="1400" u="none" strike="noStrike" baseline="0" dirty="0" smtClean="0">
                          <a:latin typeface="Century Gothic" pitchFamily="34" charset="0"/>
                        </a:rPr>
                        <a:t> t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akes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too much time and effort in relation to information gained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19%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17%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18%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latin typeface="Century Gothic" pitchFamily="34" charset="0"/>
                        </a:rPr>
                        <a:t>Job candidates might be less likely to apply if they knew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the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organization </a:t>
                      </a:r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screened </a:t>
                      </a:r>
                      <a:r>
                        <a:rPr lang="en-US" sz="1400" u="none" strike="noStrike" dirty="0">
                          <a:latin typeface="Century Gothic" pitchFamily="34" charset="0"/>
                        </a:rPr>
                        <a:t>job candidates in this manner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  <a:tr h="4572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latin typeface="Century Gothic" pitchFamily="34" charset="0"/>
                        </a:rPr>
                        <a:t>Other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97687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16%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latin typeface="Century Gothic" pitchFamily="34" charset="0"/>
                        </a:rPr>
                        <a:t>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latin typeface="Century Gothic" pitchFamily="34" charset="0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entury Gothic" pitchFamily="34" charset="0"/>
                      </a:endParaRPr>
                    </a:p>
                  </a:txBody>
                  <a:tcPr marL="10854" marR="10854" marT="9525" marB="0" anchor="ctr"/>
                </a:tc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does your organization NOT use social networking websites to screen job candidates?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422275" y="6096000"/>
            <a:ext cx="7883525" cy="228600"/>
          </a:xfrm>
        </p:spPr>
        <p:txBody>
          <a:bodyPr/>
          <a:lstStyle/>
          <a:p>
            <a:r>
              <a:rPr lang="en-US" dirty="0" smtClean="0"/>
              <a:t>Note: Only organizations that do not use social networking websites to screen job candidates were asked this question. Totals do not equal 100% due to multiple response options. An asterisk (*) indicates response option was not available in 2008.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816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How often do organizations use </a:t>
            </a:r>
            <a:r>
              <a:rPr lang="en-US" u="sng" dirty="0" smtClean="0"/>
              <a:t>online search engines</a:t>
            </a:r>
            <a:r>
              <a:rPr lang="en-US" dirty="0" smtClean="0"/>
              <a:t> to screen job candidates at any point in the hiring process for the targeted job levels?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22275" y="6019800"/>
            <a:ext cx="8264525" cy="228600"/>
          </a:xfrm>
        </p:spPr>
        <p:txBody>
          <a:bodyPr/>
          <a:lstStyle/>
          <a:p>
            <a:r>
              <a:rPr lang="en-US" dirty="0" smtClean="0"/>
              <a:t>Note: Only organizations that use online search engines to screen job candidates at any point in the hiring process were asked this question. Percentages may not total 100% due to rounding</a:t>
            </a:r>
            <a:r>
              <a:rPr lang="en-US" dirty="0"/>
              <a:t>. Respondents who answered “don’t know” were excluded from this analysis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905562426"/>
              </p:ext>
            </p:extLst>
          </p:nvPr>
        </p:nvGraphicFramePr>
        <p:xfrm>
          <a:off x="457200" y="1447800"/>
          <a:ext cx="8229600" cy="2359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590992165"/>
              </p:ext>
            </p:extLst>
          </p:nvPr>
        </p:nvGraphicFramePr>
        <p:xfrm>
          <a:off x="457200" y="3492882"/>
          <a:ext cx="8229600" cy="2359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43800" y="3276600"/>
            <a:ext cx="9144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 smtClean="0">
                <a:latin typeface="Century Gothic" pitchFamily="34" charset="0"/>
              </a:rPr>
              <a:t>n = 120-140</a:t>
            </a:r>
            <a:endParaRPr lang="en-US" sz="1050" i="1" dirty="0">
              <a:latin typeface="Century Gothic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5384884"/>
            <a:ext cx="685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 smtClean="0">
                <a:latin typeface="Century Gothic" pitchFamily="34" charset="0"/>
              </a:rPr>
              <a:t>n = 110</a:t>
            </a:r>
            <a:endParaRPr lang="en-US" sz="1050" i="1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93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Most Common Social Networking Websites Organizations Use to Screen Job Candidates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422275" y="6096000"/>
            <a:ext cx="8264525" cy="228600"/>
          </a:xfrm>
        </p:spPr>
        <p:txBody>
          <a:bodyPr/>
          <a:lstStyle/>
          <a:p>
            <a:r>
              <a:rPr lang="en-US" dirty="0" smtClean="0"/>
              <a:t>Note: Only organizations that use social networking websites to screen job candidates were asked this question. Total  does not equal 100% due to multiple response options. An asterisk (*) indicates this response option was not available in 2011. “Second life” is not reported because no respondents selected this option.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216125161"/>
              </p:ext>
            </p:extLst>
          </p:nvPr>
        </p:nvGraphicFramePr>
        <p:xfrm>
          <a:off x="381000" y="1371600"/>
          <a:ext cx="85344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Social Networking Websites and Recruiting/Selection ©SHRM 2013</a:t>
            </a:r>
          </a:p>
        </p:txBody>
      </p:sp>
    </p:spTree>
    <p:extLst>
      <p:ext uri="{BB962C8B-B14F-4D97-AF65-F5344CB8AC3E}">
        <p14:creationId xmlns:p14="http://schemas.microsoft.com/office/powerpoint/2010/main" val="354814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Does your organization currently have a formal or an informal policy regarding the use of social networking websites to screen job candidates?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422275" y="6172200"/>
            <a:ext cx="7883525" cy="228600"/>
          </a:xfrm>
        </p:spPr>
        <p:txBody>
          <a:bodyPr/>
          <a:lstStyle/>
          <a:p>
            <a:r>
              <a:rPr lang="en-US" dirty="0" smtClean="0"/>
              <a:t>Note: Percentages may not total 100% due to rounding. Respondents </a:t>
            </a:r>
            <a:r>
              <a:rPr lang="en-US" dirty="0"/>
              <a:t>who answered “don’t know” were excluded from this analysis.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1601292808"/>
              </p:ext>
            </p:extLst>
          </p:nvPr>
        </p:nvGraphicFramePr>
        <p:xfrm>
          <a:off x="609600" y="1600200"/>
          <a:ext cx="7959725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1"/>
          <p:cNvSpPr txBox="1"/>
          <p:nvPr/>
        </p:nvSpPr>
        <p:spPr>
          <a:xfrm>
            <a:off x="762000" y="6172200"/>
            <a:ext cx="6019800" cy="304800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1000" b="0" i="1" dirty="0">
              <a:latin typeface="Calibri" pitchFamily="34" charset="0"/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5582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Does your organization currently have a formal or an informal policy regarding the use of social networking websites to screen job candidates?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6621-4E9B-4240-8665-517886F74C1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22275" y="6400800"/>
            <a:ext cx="7883525" cy="228600"/>
          </a:xfrm>
        </p:spPr>
        <p:txBody>
          <a:bodyPr/>
          <a:lstStyle/>
          <a:p>
            <a:pPr marL="1587" lvl="1"/>
            <a:r>
              <a:rPr lang="en-US" sz="1000" dirty="0"/>
              <a:t>Note: Only statistically significant differences are shown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81000" y="1447800"/>
            <a:ext cx="44196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200" dirty="0">
                <a:solidFill>
                  <a:srgbClr val="000000"/>
                </a:solidFill>
                <a:latin typeface="Century Gothic" pitchFamily="34" charset="0"/>
              </a:rPr>
              <a:t>Comparisons by </a:t>
            </a:r>
            <a:r>
              <a:rPr lang="en-US" sz="1200" dirty="0" smtClean="0">
                <a:solidFill>
                  <a:srgbClr val="000000"/>
                </a:solidFill>
                <a:latin typeface="Century Gothic" pitchFamily="34" charset="0"/>
              </a:rPr>
              <a:t>organization staff size</a:t>
            </a:r>
            <a:endParaRPr lang="en-US" sz="1200" dirty="0">
              <a:solidFill>
                <a:srgbClr val="000000"/>
              </a:solidFill>
              <a:latin typeface="Century Gothic" pitchFamily="34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81000" y="1691640"/>
            <a:ext cx="838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 </a:t>
            </a:r>
            <a:r>
              <a:rPr lang="en-US" sz="1100" b="0" dirty="0" smtClean="0">
                <a:latin typeface="Century Gothic" pitchFamily="34" charset="0"/>
              </a:rPr>
              <a:t>Organizations with 1 to 499 employees are more likely than organizations with 2,500 to 24,999 employees 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to </a:t>
            </a:r>
            <a:r>
              <a:rPr lang="en-US" sz="1100" b="0" dirty="0">
                <a:solidFill>
                  <a:srgbClr val="000000"/>
                </a:solidFill>
                <a:latin typeface="Century Gothic" pitchFamily="34" charset="0"/>
              </a:rPr>
              <a:t>have </a:t>
            </a:r>
            <a:r>
              <a:rPr lang="en-US" sz="1100" b="0" u="sng" dirty="0" smtClean="0">
                <a:solidFill>
                  <a:srgbClr val="000000"/>
                </a:solidFill>
                <a:latin typeface="Century Gothic" pitchFamily="34" charset="0"/>
              </a:rPr>
              <a:t>no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latin typeface="Century Gothic" pitchFamily="34" charset="0"/>
              </a:rPr>
              <a:t>formal or informal 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policy with regards to the use of social networking websites to screen job candidates.</a:t>
            </a:r>
          </a:p>
        </p:txBody>
      </p:sp>
      <p:graphicFrame>
        <p:nvGraphicFramePr>
          <p:cNvPr id="10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9418640"/>
              </p:ext>
            </p:extLst>
          </p:nvPr>
        </p:nvGraphicFramePr>
        <p:xfrm>
          <a:off x="381000" y="2133600"/>
          <a:ext cx="8382000" cy="960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87239"/>
                <a:gridCol w="685800"/>
                <a:gridCol w="3908961"/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Comparisons by organization staff size:</a:t>
                      </a:r>
                    </a:p>
                    <a:p>
                      <a:pPr algn="ctr"/>
                      <a:r>
                        <a:rPr lang="en-US" sz="1100" u="sng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No formal or informal policy</a:t>
                      </a:r>
                      <a:r>
                        <a:rPr lang="en-US" sz="1100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 with regards to the use of these sites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latin typeface="Century Gothic" pitchFamily="34" charset="0"/>
                        </a:rPr>
                        <a:t>1</a:t>
                      </a:r>
                      <a:r>
                        <a:rPr lang="en-US" sz="1100" kern="1200" baseline="0" dirty="0" smtClean="0">
                          <a:latin typeface="Century Gothic" pitchFamily="34" charset="0"/>
                        </a:rPr>
                        <a:t> </a:t>
                      </a:r>
                      <a:r>
                        <a:rPr lang="en-US" sz="1100" kern="1200" dirty="0" smtClean="0">
                          <a:latin typeface="Century Gothic" pitchFamily="34" charset="0"/>
                        </a:rPr>
                        <a:t>to 99 employees (72%)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100 to 499 employees (68%)</a:t>
                      </a:r>
                    </a:p>
                  </a:txBody>
                  <a:tcPr marL="83959" marR="83959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>
                          <a:latin typeface="Century Gothic" pitchFamily="34" charset="0"/>
                        </a:rPr>
                        <a:t>&gt;</a:t>
                      </a:r>
                    </a:p>
                  </a:txBody>
                  <a:tcPr marL="83959" marR="839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latin typeface="Century Gothic" pitchFamily="34" charset="0"/>
                        </a:rPr>
                        <a:t>2,500 to 24,999 employees (47%)</a:t>
                      </a:r>
                    </a:p>
                  </a:txBody>
                  <a:tcPr marL="83959" marR="839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381000" y="3226713"/>
            <a:ext cx="838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 </a:t>
            </a:r>
            <a:r>
              <a:rPr lang="en-US" sz="1100" b="0" dirty="0" smtClean="0">
                <a:latin typeface="Century Gothic" pitchFamily="34" charset="0"/>
              </a:rPr>
              <a:t>Organizations with 25,000 or more employees are more likely than organizations with 1 to 99 employees 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to </a:t>
            </a:r>
            <a:r>
              <a:rPr lang="en-US" sz="1100" b="0" dirty="0">
                <a:solidFill>
                  <a:srgbClr val="000000"/>
                </a:solidFill>
                <a:latin typeface="Century Gothic" pitchFamily="34" charset="0"/>
              </a:rPr>
              <a:t>have an Informal policy prohibiting 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the use </a:t>
            </a:r>
            <a:r>
              <a:rPr lang="en-US" sz="1100" b="0" dirty="0">
                <a:solidFill>
                  <a:srgbClr val="000000"/>
                </a:solidFill>
                <a:latin typeface="Century Gothic" pitchFamily="34" charset="0"/>
              </a:rPr>
              <a:t>of 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social </a:t>
            </a:r>
            <a:r>
              <a:rPr lang="en-US" sz="1100" b="0" dirty="0">
                <a:solidFill>
                  <a:srgbClr val="000000"/>
                </a:solidFill>
                <a:latin typeface="Century Gothic" pitchFamily="34" charset="0"/>
              </a:rPr>
              <a:t>networking websites to screen job candidates</a:t>
            </a:r>
            <a:r>
              <a:rPr lang="en-US" sz="1100" b="0" dirty="0" smtClean="0">
                <a:solidFill>
                  <a:srgbClr val="000000"/>
                </a:solidFill>
                <a:latin typeface="Century Gothic" pitchFamily="34" charset="0"/>
              </a:rPr>
              <a:t>.</a:t>
            </a:r>
            <a:endParaRPr lang="en-US" sz="1100" b="0" dirty="0">
              <a:solidFill>
                <a:srgbClr val="000000"/>
              </a:solidFill>
              <a:latin typeface="Century Gothic" pitchFamily="34" charset="0"/>
            </a:endParaRPr>
          </a:p>
        </p:txBody>
      </p:sp>
      <p:graphicFrame>
        <p:nvGraphicFramePr>
          <p:cNvPr id="12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4587299"/>
              </p:ext>
            </p:extLst>
          </p:nvPr>
        </p:nvGraphicFramePr>
        <p:xfrm>
          <a:off x="381000" y="3661178"/>
          <a:ext cx="8382000" cy="91082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87239"/>
                <a:gridCol w="685800"/>
                <a:gridCol w="3908961"/>
              </a:tblGrid>
              <a:tr h="45541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Comparisons by organization staff size:</a:t>
                      </a:r>
                    </a:p>
                    <a:p>
                      <a:pPr algn="ctr"/>
                      <a:r>
                        <a:rPr lang="en-US" sz="1100" u="sng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Informal policy prohibiting</a:t>
                      </a:r>
                      <a:r>
                        <a:rPr lang="en-US" sz="1100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 the use of these sites</a:t>
                      </a:r>
                      <a:endParaRPr lang="en-US" sz="1100" dirty="0">
                        <a:solidFill>
                          <a:schemeClr val="bg1"/>
                        </a:solidFill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41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latin typeface="Century Gothic" pitchFamily="34" charset="0"/>
                        </a:rPr>
                        <a:t>25,000 or more employees (31%)</a:t>
                      </a:r>
                      <a:endParaRPr lang="en-US" sz="1100" kern="1200" dirty="0" smtClean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marL="83959" marR="83959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>
                          <a:latin typeface="Century Gothic" pitchFamily="34" charset="0"/>
                        </a:rPr>
                        <a:t>&gt;</a:t>
                      </a:r>
                    </a:p>
                  </a:txBody>
                  <a:tcPr marL="83959" marR="839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latin typeface="Century Gothic" pitchFamily="34" charset="0"/>
                        </a:rPr>
                        <a:t>1</a:t>
                      </a:r>
                      <a:r>
                        <a:rPr lang="en-US" sz="1100" kern="1200" baseline="0" dirty="0" smtClean="0">
                          <a:latin typeface="Century Gothic" pitchFamily="34" charset="0"/>
                        </a:rPr>
                        <a:t> </a:t>
                      </a:r>
                      <a:r>
                        <a:rPr lang="en-US" sz="1100" kern="1200" dirty="0" smtClean="0">
                          <a:latin typeface="Century Gothic" pitchFamily="34" charset="0"/>
                        </a:rPr>
                        <a:t>to 99 employees (7%)</a:t>
                      </a:r>
                    </a:p>
                  </a:txBody>
                  <a:tcPr marL="83959" marR="839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13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4675610"/>
              </p:ext>
            </p:extLst>
          </p:nvPr>
        </p:nvGraphicFramePr>
        <p:xfrm>
          <a:off x="381000" y="5293198"/>
          <a:ext cx="8382000" cy="1036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87239"/>
                <a:gridCol w="685800"/>
                <a:gridCol w="3908961"/>
              </a:tblGrid>
              <a:tr h="48768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/>
                        <a:t>Comparisons by organization sector:</a:t>
                      </a:r>
                    </a:p>
                    <a:p>
                      <a:pPr algn="ctr"/>
                      <a:r>
                        <a:rPr lang="en-US" sz="1100" u="sng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No formal or informal policy</a:t>
                      </a:r>
                      <a:r>
                        <a:rPr lang="en-US" sz="1100" dirty="0" smtClean="0">
                          <a:solidFill>
                            <a:schemeClr val="bg1"/>
                          </a:solidFill>
                          <a:latin typeface="Century Gothic" pitchFamily="34" charset="0"/>
                        </a:rPr>
                        <a:t> with regards to the use of these sites</a:t>
                      </a:r>
                    </a:p>
                  </a:txBody>
                  <a:tcPr marL="83959" marR="8395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Privately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owned for-profit (61%)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Government (71%)</a:t>
                      </a: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&gt;</a:t>
                      </a:r>
                      <a:endParaRPr lang="en-US" sz="1100" baseline="0" dirty="0" smtClean="0">
                        <a:latin typeface="Century Gothic" pitchFamily="34" charset="0"/>
                      </a:endParaRPr>
                    </a:p>
                  </a:txBody>
                  <a:tcPr marL="83959" marR="8395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Publicly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owned for-profit (44%)</a:t>
                      </a:r>
                    </a:p>
                  </a:txBody>
                  <a:tcPr marL="83959" marR="83959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1000" y="4648200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Century Gothic" pitchFamily="34" charset="0"/>
              </a:rPr>
              <a:t>Comparisons by organization sector</a:t>
            </a:r>
            <a:endParaRPr lang="en-US" sz="1200" b="1" dirty="0">
              <a:latin typeface="Century Gothic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000" y="4903113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100" b="0" dirty="0" smtClean="0">
                <a:latin typeface="Century Gothic" pitchFamily="34" charset="0"/>
              </a:rPr>
              <a:t> Privately owned for-profit and government </a:t>
            </a:r>
            <a:r>
              <a:rPr lang="en-US" sz="1100" dirty="0" smtClean="0">
                <a:latin typeface="Century Gothic" pitchFamily="34" charset="0"/>
              </a:rPr>
              <a:t>organizations </a:t>
            </a:r>
            <a:r>
              <a:rPr lang="en-US" sz="1100" dirty="0">
                <a:latin typeface="Century Gothic" pitchFamily="34" charset="0"/>
              </a:rPr>
              <a:t>are more likely than </a:t>
            </a:r>
            <a:r>
              <a:rPr lang="en-US" sz="1100" dirty="0" smtClean="0">
                <a:latin typeface="Century Gothic" pitchFamily="34" charset="0"/>
              </a:rPr>
              <a:t>publicly owned for-profit organizations </a:t>
            </a:r>
            <a:r>
              <a:rPr lang="en-US" sz="1100" dirty="0">
                <a:latin typeface="Century Gothic" pitchFamily="34" charset="0"/>
              </a:rPr>
              <a:t>to </a:t>
            </a:r>
            <a:r>
              <a:rPr lang="en-US" sz="1100" dirty="0">
                <a:solidFill>
                  <a:srgbClr val="000000"/>
                </a:solidFill>
                <a:latin typeface="Century Gothic" pitchFamily="34" charset="0"/>
              </a:rPr>
              <a:t>have </a:t>
            </a:r>
            <a:r>
              <a:rPr lang="en-US" sz="1100" u="sng" dirty="0">
                <a:solidFill>
                  <a:srgbClr val="000000"/>
                </a:solidFill>
                <a:latin typeface="Century Gothic" pitchFamily="34" charset="0"/>
              </a:rPr>
              <a:t>no</a:t>
            </a:r>
            <a:r>
              <a:rPr lang="en-US" sz="1100" dirty="0">
                <a:solidFill>
                  <a:srgbClr val="000000"/>
                </a:solidFill>
                <a:latin typeface="Century Gothic" pitchFamily="34" charset="0"/>
              </a:rPr>
              <a:t> formal or informal policy with regards to use of social networking websites to screen job candidates.</a:t>
            </a:r>
            <a:endParaRPr lang="en-US" sz="1100" dirty="0" smtClean="0">
              <a:solidFill>
                <a:srgbClr val="000000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556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Does your organization plan to implement a formal policy regarding the use of social networking websites to screen job candidates within the next 12 months?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96472-4D2E-4527-9BA6-A1ACD254ACF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22275" y="6019800"/>
            <a:ext cx="7883525" cy="228600"/>
          </a:xfrm>
        </p:spPr>
        <p:txBody>
          <a:bodyPr/>
          <a:lstStyle/>
          <a:p>
            <a:r>
              <a:rPr lang="en-US" dirty="0" smtClean="0"/>
              <a:t>Note: Only organizations that do not currently have a formal policy regarding the use of social networking websites to screen job candidates were asked this question. Respondents who answered “don’t know” were excluded from this analysis.</a:t>
            </a:r>
            <a:endParaRPr lang="en-US" dirty="0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734286020"/>
              </p:ext>
            </p:extLst>
          </p:nvPr>
        </p:nvGraphicFramePr>
        <p:xfrm>
          <a:off x="609600" y="1524000"/>
          <a:ext cx="7959725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319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mtClean="0"/>
              <a:t>Demographics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1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Demographics: Organization Industry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26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6AF3-C615-4496-812E-BF38C3C79978}" type="slidenum">
              <a:rPr lang="en-US" smtClean="0"/>
              <a:pPr/>
              <a:t>29</a:t>
            </a:fld>
            <a:endParaRPr lang="en-US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22275" y="6172200"/>
            <a:ext cx="7883525" cy="228600"/>
          </a:xfrm>
        </p:spPr>
        <p:txBody>
          <a:bodyPr/>
          <a:lstStyle/>
          <a:p>
            <a:r>
              <a:rPr lang="en-US" dirty="0" smtClean="0"/>
              <a:t>Note: n = 629. Percentages do not total 100% due to rounding.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51641"/>
              </p:ext>
            </p:extLst>
          </p:nvPr>
        </p:nvGraphicFramePr>
        <p:xfrm>
          <a:off x="533400" y="1524000"/>
          <a:ext cx="8077200" cy="456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0"/>
                <a:gridCol w="1295400"/>
              </a:tblGrid>
              <a:tr h="5280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Century Gothic" pitchFamily="34" charset="0"/>
                        </a:rPr>
                        <a:t>Industry</a:t>
                      </a:r>
                      <a:endParaRPr lang="en-US" sz="1400" dirty="0"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Century Gothic" pitchFamily="34" charset="0"/>
                        </a:rPr>
                        <a:t>Percentage</a:t>
                      </a:r>
                      <a:endParaRPr lang="en-US" sz="1400" i="0" dirty="0">
                        <a:latin typeface="Century Gothic" pitchFamily="34" charset="0"/>
                      </a:endParaRPr>
                    </a:p>
                  </a:txBody>
                  <a:tcPr anchor="ctr"/>
                </a:tc>
              </a:tr>
              <a:tr h="2795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Health care, social assistance (e.g., hospitals, clinics, doctor's offices, in-home care, nursing homes)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17%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Services—professional, scientific, technical, legal, engineering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14%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Financial services (e.g., banking)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9%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Government/public administration—federal, state/local, tribal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Educational services/education (e.g., universities, schools)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7%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Manufacturing—other (not auto)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7%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Construction, mining, oil and gas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Consulting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Retail/wholesale trade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High-tech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Insurance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Transportation, warehousing (e.g., distribution)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86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Demographics: Organization Industry (continued)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26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6AF3-C615-4496-812E-BF38C3C79978}" type="slidenum">
              <a:rPr lang="en-US" smtClean="0"/>
              <a:pPr/>
              <a:t>30</a:t>
            </a:fld>
            <a:endParaRPr 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609600" y="6172200"/>
            <a:ext cx="7696200" cy="228600"/>
          </a:xfrm>
        </p:spPr>
        <p:txBody>
          <a:bodyPr/>
          <a:lstStyle/>
          <a:p>
            <a:r>
              <a:rPr lang="en-US" dirty="0" smtClean="0"/>
              <a:t>Note: n = </a:t>
            </a:r>
            <a:r>
              <a:rPr lang="en-US" dirty="0"/>
              <a:t>629. Percentages do not total 100% due to rounding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24437"/>
              </p:ext>
            </p:extLst>
          </p:nvPr>
        </p:nvGraphicFramePr>
        <p:xfrm>
          <a:off x="609600" y="1524000"/>
          <a:ext cx="7924800" cy="4628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0"/>
                <a:gridCol w="1219200"/>
              </a:tblGrid>
              <a:tr h="3922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Century Gothic" pitchFamily="34" charset="0"/>
                        </a:rPr>
                        <a:t>Industry</a:t>
                      </a:r>
                      <a:endParaRPr lang="en-US" sz="1400" dirty="0"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Century Gothic" pitchFamily="34" charset="0"/>
                        </a:rPr>
                        <a:t>Percentage</a:t>
                      </a:r>
                      <a:endParaRPr lang="en-US" sz="1400" dirty="0">
                        <a:solidFill>
                          <a:schemeClr val="bg1"/>
                        </a:solidFill>
                        <a:latin typeface="Century Gothic" pitchFamily="34" charset="0"/>
                      </a:endParaRPr>
                    </a:p>
                  </a:txBody>
                  <a:tcPr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Arts, entertainment, recreation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Other services (e.g., other nonprofit, church/religious organizations)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Utilities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Biotech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Manufacturing—auto/auto-related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Pharmaceutical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Publishing, broadcasting, other media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Services—accommodation, food and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drinking places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Telecommunications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Association—professional/trade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&lt;1%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Real estate, rental, leasing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&lt;1%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</a:rPr>
                        <a:t>Other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Century Gothic" pitchFamily="34" charset="0"/>
                          <a:ea typeface="Calibri"/>
                          <a:cs typeface="Times New Roman"/>
                        </a:rPr>
                        <a:t>3%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Century Gothic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27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Demographics: Organization Sector</a:t>
            </a:r>
            <a:endParaRPr lang="en-US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Social Networking Websites and Recruiting/Selection ©SHRM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 = 625</a:t>
            </a:r>
            <a:endParaRPr lang="en-US" dirty="0"/>
          </a:p>
        </p:txBody>
      </p:sp>
      <p:graphicFrame>
        <p:nvGraphicFramePr>
          <p:cNvPr id="6" name="Chart Placeholder 5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739988307"/>
              </p:ext>
            </p:extLst>
          </p:nvPr>
        </p:nvGraphicFramePr>
        <p:xfrm>
          <a:off x="592138" y="1676400"/>
          <a:ext cx="7959725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689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Demographics: Organization Staff Size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Note: n = 555. Percentages do not total 100% due to rounding.</a:t>
            </a:r>
            <a:endParaRPr lang="en-US" dirty="0"/>
          </a:p>
        </p:txBody>
      </p:sp>
      <p:graphicFrame>
        <p:nvGraphicFramePr>
          <p:cNvPr id="6" name="Chart Placeholder 5"/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2151804443"/>
              </p:ext>
            </p:extLst>
          </p:nvPr>
        </p:nvGraphicFramePr>
        <p:xfrm>
          <a:off x="592138" y="1676400"/>
          <a:ext cx="7959725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821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533400" y="3121968"/>
            <a:ext cx="28194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 i="1" dirty="0" smtClean="0">
                <a:latin typeface="+mj-lt"/>
              </a:rPr>
              <a:t>n = 638</a:t>
            </a:r>
            <a:endParaRPr lang="en-US" sz="1000" b="0" i="1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Demographics: Other</a:t>
            </a:r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6297-C830-49E0-B87C-781FFF27F347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12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2021403"/>
              </p:ext>
            </p:extLst>
          </p:nvPr>
        </p:nvGraphicFramePr>
        <p:xfrm>
          <a:off x="533400" y="2306320"/>
          <a:ext cx="2971800" cy="74168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2248930"/>
                <a:gridCol w="7228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Century Gothic" pitchFamily="34" charset="0"/>
                        </a:rPr>
                        <a:t>U.S.</a:t>
                      </a:r>
                      <a:r>
                        <a:rPr lang="en-US" sz="1200" baseline="0" dirty="0" smtClean="0">
                          <a:latin typeface="Century Gothic" pitchFamily="34" charset="0"/>
                        </a:rPr>
                        <a:t>-based operations only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Century Gothic" pitchFamily="34" charset="0"/>
                        </a:rPr>
                        <a:t>70%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Century Gothic" pitchFamily="34" charset="0"/>
                        </a:rPr>
                        <a:t>Multinational</a:t>
                      </a:r>
                      <a:r>
                        <a:rPr lang="en-US" sz="1200" baseline="0" dirty="0" smtClean="0">
                          <a:latin typeface="Century Gothic" pitchFamily="34" charset="0"/>
                        </a:rPr>
                        <a:t> operations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Century Gothic" pitchFamily="34" charset="0"/>
                        </a:rPr>
                        <a:t>30%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823152"/>
              </p:ext>
            </p:extLst>
          </p:nvPr>
        </p:nvGraphicFramePr>
        <p:xfrm>
          <a:off x="4343400" y="1981200"/>
          <a:ext cx="4114800" cy="109728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3263462"/>
                <a:gridCol w="851338"/>
              </a:tblGrid>
              <a:tr h="37084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Single-unit organization: An organization in which the location and the organization are one and the same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26%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Multi-unit organization: An organization that has more than one location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74%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790790"/>
              </p:ext>
            </p:extLst>
          </p:nvPr>
        </p:nvGraphicFramePr>
        <p:xfrm>
          <a:off x="4343400" y="4182533"/>
          <a:ext cx="4191000" cy="173736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3323896"/>
                <a:gridCol w="867104"/>
              </a:tblGrid>
              <a:tr h="504395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Multi-unit headquarters determines HR policies and practices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51%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395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Each work location determines HR policies and practices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3%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5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A combination of both the work location and the multi-unit headquarters determines HR policies and practices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46%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267200" y="1524000"/>
            <a:ext cx="373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200" b="1" dirty="0" smtClean="0">
                <a:latin typeface="+mj-lt"/>
              </a:rPr>
              <a:t>Is your organization a single-unit organization or a multi-unit organization?</a:t>
            </a:r>
            <a:endParaRPr lang="en-US" sz="1200" b="1" dirty="0">
              <a:latin typeface="+mj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67200" y="3505200"/>
            <a:ext cx="419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latin typeface="Century Gothic" pitchFamily="34" charset="0"/>
              </a:rPr>
              <a:t>For multi-unit organizations, are HR policies and practices determined by the multi-unit headquarters, by each work location or </a:t>
            </a:r>
            <a:r>
              <a:rPr lang="en-US" sz="1200" b="1" dirty="0" smtClean="0">
                <a:latin typeface="Century Gothic" pitchFamily="34" charset="0"/>
              </a:rPr>
              <a:t>by both</a:t>
            </a:r>
            <a:r>
              <a:rPr lang="en-US" sz="1200" b="1" dirty="0">
                <a:latin typeface="Century Gothic" pitchFamily="34" charset="0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39669"/>
            <a:ext cx="304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200" b="1" dirty="0" smtClean="0">
                <a:latin typeface="+mj-lt"/>
              </a:rPr>
              <a:t>Does your organization have U.S.-based operations (business units) only, or does it operate </a:t>
            </a:r>
            <a:r>
              <a:rPr lang="en-US" sz="1200" b="1" dirty="0" err="1" smtClean="0">
                <a:latin typeface="+mj-lt"/>
              </a:rPr>
              <a:t>multinationally</a:t>
            </a:r>
            <a:r>
              <a:rPr lang="en-US" sz="1200" b="1" dirty="0" smtClean="0">
                <a:latin typeface="+mj-lt"/>
              </a:rPr>
              <a:t>?</a:t>
            </a: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4343400" y="3106579"/>
            <a:ext cx="38100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000" b="0" i="1" dirty="0" smtClean="0">
                <a:latin typeface="+mj-lt"/>
              </a:rPr>
              <a:t>n = 629</a:t>
            </a:r>
            <a:endParaRPr lang="en-US" sz="1000" b="0" i="1" dirty="0">
              <a:latin typeface="+mj-lt"/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4343400" y="5943600"/>
            <a:ext cx="39624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 i="1" dirty="0" smtClean="0">
                <a:latin typeface="+mj-lt"/>
              </a:rPr>
              <a:t>n = 478</a:t>
            </a:r>
            <a:endParaRPr lang="en-US" sz="1000" b="0" i="1" dirty="0">
              <a:latin typeface="+mj-lt"/>
            </a:endParaRPr>
          </a:p>
        </p:txBody>
      </p:sp>
      <p:graphicFrame>
        <p:nvGraphicFramePr>
          <p:cNvPr id="23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1360839"/>
              </p:ext>
            </p:extLst>
          </p:nvPr>
        </p:nvGraphicFramePr>
        <p:xfrm>
          <a:off x="533400" y="4419600"/>
          <a:ext cx="2971800" cy="74168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2286000"/>
                <a:gridCol w="6858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Yes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20%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No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entury Gothic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entury Gothic" pitchFamily="34" charset="0"/>
                          <a:ea typeface="+mn-ea"/>
                          <a:cs typeface="+mn-cs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533400" y="5257800"/>
            <a:ext cx="28956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0" i="1" dirty="0" smtClean="0">
                <a:latin typeface="+mj-lt"/>
              </a:rPr>
              <a:t>n = 619</a:t>
            </a:r>
            <a:endParaRPr lang="en-US" sz="1000" i="1" dirty="0">
              <a:latin typeface="+mj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733801"/>
            <a:ext cx="320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200" b="1" dirty="0">
                <a:latin typeface="Century Gothic" pitchFamily="34" charset="0"/>
              </a:rPr>
              <a:t>Are any of your employees at your work location unionized (under a collective bargaining agreement)?</a:t>
            </a:r>
          </a:p>
        </p:txBody>
      </p:sp>
    </p:spTree>
    <p:extLst>
      <p:ext uri="{BB962C8B-B14F-4D97-AF65-F5344CB8AC3E}">
        <p14:creationId xmlns:p14="http://schemas.microsoft.com/office/powerpoint/2010/main" val="275942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352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Response rate = 19%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651 HR professionals from a randomly selected sample of </a:t>
            </a:r>
            <a:r>
              <a:rPr lang="en-US" dirty="0" err="1" smtClean="0"/>
              <a:t>SHRM’s</a:t>
            </a:r>
            <a:r>
              <a:rPr lang="en-US" dirty="0" smtClean="0"/>
              <a:t> </a:t>
            </a:r>
            <a:r>
              <a:rPr lang="en-US" dirty="0"/>
              <a:t>membership with the job function of recruiting/staffing </a:t>
            </a:r>
            <a:r>
              <a:rPr lang="en-US" dirty="0" smtClean="0"/>
              <a:t>participated in this survey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Margin of error +/-4%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Survey fielded February 25-March 8, 2013</a:t>
            </a:r>
          </a:p>
          <a:p>
            <a:pPr>
              <a:spcAft>
                <a:spcPts val="600"/>
              </a:spcAft>
            </a:pPr>
            <a:r>
              <a:rPr lang="en-US" dirty="0"/>
              <a:t>2011 data taken from S</a:t>
            </a:r>
            <a:r>
              <a:rPr lang="en-US" i="1" dirty="0"/>
              <a:t>HRM Poll: Social Networking Websites and Identifying Potential Job Candidates </a:t>
            </a:r>
            <a:r>
              <a:rPr lang="en-US" dirty="0"/>
              <a:t>and </a:t>
            </a:r>
            <a:r>
              <a:rPr lang="en-US" i="1" dirty="0"/>
              <a:t>SHRM Survey Findings: The Use of Social Networking Websites and Online Search Engines in Screening Job Candidates </a:t>
            </a:r>
            <a:r>
              <a:rPr lang="en-US" dirty="0"/>
              <a:t>(fielded </a:t>
            </a:r>
            <a:r>
              <a:rPr lang="en-US" dirty="0" smtClean="0"/>
              <a:t>December, 2010-February, 2011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2008 </a:t>
            </a:r>
            <a:r>
              <a:rPr lang="en-US" dirty="0"/>
              <a:t>data taken from </a:t>
            </a:r>
            <a:r>
              <a:rPr lang="en-US" i="1" dirty="0"/>
              <a:t>SHRM Staffing Research: Online Technologies and Their Impact on Recruitment Strategies </a:t>
            </a:r>
            <a:r>
              <a:rPr lang="en-US" dirty="0" smtClean="0"/>
              <a:t>(fielded July-September, 2008)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SHRM Survey Findings: Social Networking Websites and Recruiting/Selection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457200" y="1524000"/>
            <a:ext cx="3082925" cy="381000"/>
          </a:xfrm>
        </p:spPr>
        <p:txBody>
          <a:bodyPr/>
          <a:lstStyle/>
          <a:p>
            <a:r>
              <a:rPr lang="en-US" dirty="0" smtClean="0"/>
              <a:t>Survey Methodology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4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04900" y="2133600"/>
            <a:ext cx="6934200" cy="1600200"/>
          </a:xfrm>
        </p:spPr>
        <p:txBody>
          <a:bodyPr/>
          <a:lstStyle/>
          <a:p>
            <a:pPr marL="285750" lvl="0" indent="-285750">
              <a:buFont typeface="Arial" pitchFamily="34" charset="0"/>
              <a:buChar char="•"/>
            </a:pPr>
            <a:r>
              <a:rPr lang="en-US" dirty="0" smtClean="0">
                <a:cs typeface="Akzidenz-Grotesk Pro Regular"/>
              </a:rPr>
              <a:t>For more survey/poll findings, visit </a:t>
            </a:r>
            <a:r>
              <a:rPr lang="en-US" dirty="0" smtClean="0">
                <a:cs typeface="Akzidenz-Grotesk Pro Regular"/>
                <a:hlinkClick r:id="rId2"/>
              </a:rPr>
              <a:t>www.shrm.org/surveys</a:t>
            </a:r>
            <a:endParaRPr lang="en-US" dirty="0" smtClean="0">
              <a:cs typeface="Akzidenz-Grotesk Pro Regular"/>
            </a:endParaRPr>
          </a:p>
          <a:p>
            <a:pPr marL="285750" lvl="0" indent="-285750">
              <a:buFont typeface="Arial" pitchFamily="34" charset="0"/>
              <a:buChar char="•"/>
            </a:pPr>
            <a:endParaRPr lang="en-US" dirty="0" smtClean="0">
              <a:cs typeface="Akzidenz-Grotesk Pro Regular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en-US" dirty="0" smtClean="0">
                <a:cs typeface="Akzidenz-Grotesk Pro Regular"/>
              </a:rPr>
              <a:t>For more information about SHRM’s Customized Research Services, visit </a:t>
            </a:r>
            <a:r>
              <a:rPr lang="en-US" dirty="0" smtClean="0">
                <a:cs typeface="Akzidenz-Grotesk Pro Regular"/>
                <a:hlinkClick r:id="rId3"/>
              </a:rPr>
              <a:t>www.shrm.org/customizedresearch</a:t>
            </a:r>
            <a:endParaRPr lang="en-US" dirty="0" smtClean="0">
              <a:cs typeface="Akzidenz-Grotesk Pro Regular"/>
            </a:endParaRPr>
          </a:p>
          <a:p>
            <a:pPr marL="285750" lvl="0" indent="-285750">
              <a:buFont typeface="Arial" pitchFamily="34" charset="0"/>
              <a:buChar char="•"/>
              <a:defRPr/>
            </a:pPr>
            <a:endParaRPr lang="en-US" dirty="0" smtClean="0">
              <a:cs typeface="Akzidenz-Grotesk Pro Regular"/>
            </a:endParaRPr>
          </a:p>
          <a:p>
            <a:pPr marL="285750" lvl="0" indent="-285750">
              <a:buFont typeface="Arial" pitchFamily="34" charset="0"/>
              <a:buChar char="•"/>
              <a:defRPr/>
            </a:pPr>
            <a:r>
              <a:rPr lang="en-US" dirty="0" smtClean="0">
                <a:cs typeface="Akzidenz-Grotesk Pro Regular"/>
              </a:rPr>
              <a:t>Follow us on Twitter </a:t>
            </a:r>
            <a:r>
              <a:rPr lang="en-US" dirty="0" smtClean="0">
                <a:cs typeface="Akzidenz-Grotesk Pro Regular"/>
                <a:hlinkClick r:id="rId4"/>
              </a:rPr>
              <a:t>@</a:t>
            </a:r>
            <a:r>
              <a:rPr lang="en-US" dirty="0" err="1" smtClean="0">
                <a:cs typeface="Akzidenz-Grotesk Pro Regular"/>
                <a:hlinkClick r:id="rId4"/>
              </a:rPr>
              <a:t>SHRM_Research</a:t>
            </a:r>
            <a:endParaRPr lang="en-US" dirty="0">
              <a:cs typeface="Akzidenz-Grotesk Pro Regular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Social Networking Websites and Recruiting/Selection ©SHRM 2013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7044-6EAF-4EF4-BF65-A9788B3B2B3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About SHRM Research</a:t>
            </a:r>
            <a:endParaRPr lang="en-US" sz="20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104900" y="3962400"/>
            <a:ext cx="6934200" cy="1905000"/>
          </a:xfrm>
        </p:spPr>
        <p:txBody>
          <a:bodyPr/>
          <a:lstStyle/>
          <a:p>
            <a:pPr>
              <a:tabLst>
                <a:tab pos="1258888" algn="l"/>
              </a:tabLst>
            </a:pPr>
            <a:r>
              <a:rPr lang="en-US" dirty="0" smtClean="0"/>
              <a:t>Project leader:</a:t>
            </a:r>
          </a:p>
          <a:p>
            <a:pPr>
              <a:tabLst>
                <a:tab pos="225425" algn="l"/>
              </a:tabLst>
            </a:pPr>
            <a:r>
              <a:rPr lang="en-US" b="0" dirty="0" smtClean="0">
                <a:solidFill>
                  <a:prstClr val="black"/>
                </a:solidFill>
              </a:rPr>
              <a:t>	Tanya Mulvey, survey research analyst, SHRM Research</a:t>
            </a:r>
          </a:p>
          <a:p>
            <a:pPr>
              <a:tabLst>
                <a:tab pos="225425" algn="l"/>
              </a:tabLst>
            </a:pPr>
            <a:r>
              <a:rPr lang="en-US" b="0" dirty="0" smtClean="0">
                <a:solidFill>
                  <a:prstClr val="black"/>
                </a:solidFill>
              </a:rPr>
              <a:t>		</a:t>
            </a:r>
          </a:p>
          <a:p>
            <a:pPr>
              <a:tabLst>
                <a:tab pos="1603375" algn="l"/>
              </a:tabLst>
              <a:defRPr/>
            </a:pPr>
            <a:r>
              <a:rPr lang="en-US" dirty="0" smtClean="0"/>
              <a:t>Project contributors:</a:t>
            </a:r>
          </a:p>
          <a:p>
            <a:pPr>
              <a:tabLst>
                <a:tab pos="225425" algn="l"/>
              </a:tabLst>
              <a:defRPr/>
            </a:pPr>
            <a:r>
              <a:rPr lang="en-US" b="0" dirty="0" smtClean="0">
                <a:solidFill>
                  <a:prstClr val="black"/>
                </a:solidFill>
              </a:rPr>
              <a:t>	Alexander Alonso, Ph.D., </a:t>
            </a:r>
            <a:r>
              <a:rPr lang="en-US" b="0" dirty="0" err="1" smtClean="0">
                <a:solidFill>
                  <a:prstClr val="black"/>
                </a:solidFill>
              </a:rPr>
              <a:t>SPHR</a:t>
            </a:r>
            <a:r>
              <a:rPr lang="en-US" b="0" dirty="0" smtClean="0">
                <a:solidFill>
                  <a:prstClr val="black"/>
                </a:solidFill>
              </a:rPr>
              <a:t>, vice president, SHRM Research</a:t>
            </a:r>
          </a:p>
          <a:p>
            <a:pPr>
              <a:tabLst>
                <a:tab pos="225425" algn="l"/>
              </a:tabLst>
              <a:defRPr/>
            </a:pPr>
            <a:r>
              <a:rPr lang="en-US" b="0" dirty="0" smtClean="0">
                <a:solidFill>
                  <a:prstClr val="black"/>
                </a:solidFill>
              </a:rPr>
              <a:t>	Evren Esen, manager, Survey Research Center, SHRM Research</a:t>
            </a:r>
          </a:p>
          <a:p>
            <a:pPr>
              <a:tabLst>
                <a:tab pos="225425" algn="l"/>
              </a:tabLst>
              <a:defRPr/>
            </a:pPr>
            <a:r>
              <a:rPr lang="en-US" b="0" dirty="0" smtClean="0">
                <a:solidFill>
                  <a:prstClr val="black"/>
                </a:solidFill>
              </a:rPr>
              <a:t>		</a:t>
            </a:r>
          </a:p>
          <a:p>
            <a:pPr>
              <a:tabLst>
                <a:tab pos="225425" algn="l"/>
              </a:tabLst>
              <a:defRPr/>
            </a:pPr>
            <a:r>
              <a:rPr lang="en-US" dirty="0" smtClean="0"/>
              <a:t>Copy editor:</a:t>
            </a:r>
          </a:p>
          <a:p>
            <a:pPr>
              <a:tabLst>
                <a:tab pos="225425" algn="l"/>
              </a:tabLst>
              <a:defRPr/>
            </a:pPr>
            <a:r>
              <a:rPr lang="en-US" b="0" dirty="0" smtClean="0">
                <a:solidFill>
                  <a:prstClr val="black"/>
                </a:solidFill>
              </a:rPr>
              <a:t>	Katya Scanlan, SHRM Knowledge Center</a:t>
            </a:r>
            <a:endParaRPr lang="en-US" b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54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urveyResearchFindingsTemplate 2013 02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2_PowerPoint Template (data)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77C9C2C940B3458A5046D03F018E3D" ma:contentTypeVersion="6" ma:contentTypeDescription="Create a new document." ma:contentTypeScope="" ma:versionID="9891c2ba41c1f5c503aba0a312d87f69">
  <xsd:schema xmlns:xsd="http://www.w3.org/2001/XMLSchema" xmlns:xs="http://www.w3.org/2001/XMLSchema" xmlns:p="http://schemas.microsoft.com/office/2006/metadata/properties" xmlns:ns1="http://schemas.microsoft.com/sharepoint/v3" xmlns:ns2="9e35c72e-853b-4481-acd9-8b56c994845b" xmlns:ns3="d43f3b7c-a757-4228-95cb-f16edb22d1b5" targetNamespace="http://schemas.microsoft.com/office/2006/metadata/properties" ma:root="true" ma:fieldsID="4c01ffe93708af7e610cc39d79ada667" ns1:_="" ns2:_="" ns3:_="">
    <xsd:import namespace="http://schemas.microsoft.com/sharepoint/v3"/>
    <xsd:import namespace="9e35c72e-853b-4481-acd9-8b56c994845b"/>
    <xsd:import namespace="d43f3b7c-a757-4228-95cb-f16edb22d1b5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3:SHRMCoreIsTool" minOccurs="0"/>
                <xsd:element ref="ns3:SHRMCoreMembersOnl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35c72e-853b-4481-acd9-8b56c994845b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4" nillable="true" ma:taxonomy="true" ma:internalName="TaxKeywordTaxHTField" ma:taxonomyFieldName="TaxKeyword" ma:displayName="Enterprise Keywords" ma:fieldId="{23f27201-bee3-471e-b2e7-b64fd8b7ca38}" ma:taxonomyMulti="true" ma:sspId="00000000-0000-0000-0000-00000000000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5" nillable="true" ma:displayName="Taxonomy Catch All Column" ma:hidden="true" ma:list="{34ac6ce0-1bc1-4c00-9ac6-5299b43f4132}" ma:internalName="TaxCatchAll" ma:showField="CatchAllData" ma:web="9e35c72e-853b-4481-acd9-8b56c99484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f3b7c-a757-4228-95cb-f16edb22d1b5" elementFormDefault="qualified">
    <xsd:import namespace="http://schemas.microsoft.com/office/2006/documentManagement/types"/>
    <xsd:import namespace="http://schemas.microsoft.com/office/infopath/2007/PartnerControls"/>
    <xsd:element name="SHRMCoreIsTool" ma:index="16" nillable="true" ma:displayName="Is Tool" ma:internalName="SHRMCoreIsTool">
      <xsd:simpleType>
        <xsd:restriction base="dms:Boolean"/>
      </xsd:simpleType>
    </xsd:element>
    <xsd:element name="SHRMCoreMembersOnly" ma:index="17" nillable="true" ma:displayName="Members Only" ma:internalName="SHRMCoreMembersOnly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RMCoreMembersOnly xmlns="d43f3b7c-a757-4228-95cb-f16edb22d1b5">false</SHRMCoreMembersOnly>
    <TaxKeywordTaxHTField xmlns="9e35c72e-853b-4481-acd9-8b56c994845b">
      <Terms xmlns="http://schemas.microsoft.com/office/infopath/2007/PartnerControls">
        <TermInfo xmlns="http://schemas.microsoft.com/office/infopath/2007/PartnerControls">
          <TermName xmlns="http://schemas.microsoft.com/office/infopath/2007/PartnerControls">Talent Acquisition</TermName>
          <TermId xmlns="http://schemas.microsoft.com/office/infopath/2007/PartnerControls">ecbff572-8efc-4d67-a4d4-965930d61a12</TermId>
        </TermInfo>
        <TermInfo xmlns="http://schemas.microsoft.com/office/infopath/2007/PartnerControls">
          <TermName xmlns="http://schemas.microsoft.com/office/infopath/2007/PartnerControls">Social and Value Networks</TermName>
          <TermId xmlns="http://schemas.microsoft.com/office/infopath/2007/PartnerControls">c093b1cf-ed7f-41d1-a18d-64e4d7d1404f</TermId>
        </TermInfo>
      </Terms>
    </TaxKeywordTaxHTField>
    <TaxCatchAll xmlns="9e35c72e-853b-4481-acd9-8b56c994845b">
      <Value>491</Value>
      <Value>69</Value>
    </TaxCatchAll>
    <PublishingExpirationDate xmlns="http://schemas.microsoft.com/sharepoint/v3" xsi:nil="true"/>
    <PublishingStartDate xmlns="http://schemas.microsoft.com/sharepoint/v3" xsi:nil="true"/>
    <SHRMCoreIsTool xmlns="d43f3b7c-a757-4228-95cb-f16edb22d1b5">false</SHRMCoreIsTool>
    <_dlc_DocId xmlns="9e35c72e-853b-4481-acd9-8b56c994845b">UC5APVKEY7YA-77563825-177</_dlc_DocId>
    <_dlc_DocIdUrl xmlns="9e35c72e-853b-4481-acd9-8b56c994845b">
      <Url>https://edit.shrm.org/hr-today/trends-and-forecasting/research-and-surveys/_layouts/15/DocIdRedir.aspx?ID=UC5APVKEY7YA-77563825-177</Url>
      <Description>UC5APVKEY7YA-77563825-177</Description>
    </_dlc_DocIdUrl>
  </documentManagement>
</p:properties>
</file>

<file path=customXml/itemProps1.xml><?xml version="1.0" encoding="utf-8"?>
<ds:datastoreItem xmlns:ds="http://schemas.openxmlformats.org/officeDocument/2006/customXml" ds:itemID="{F3BB9E54-F9DA-4330-AD3D-F1F28DBF0911}"/>
</file>

<file path=customXml/itemProps2.xml><?xml version="1.0" encoding="utf-8"?>
<ds:datastoreItem xmlns:ds="http://schemas.openxmlformats.org/officeDocument/2006/customXml" ds:itemID="{90CCBC76-C013-4C1E-9BA3-E67647636135}"/>
</file>

<file path=customXml/itemProps3.xml><?xml version="1.0" encoding="utf-8"?>
<ds:datastoreItem xmlns:ds="http://schemas.openxmlformats.org/officeDocument/2006/customXml" ds:itemID="{9D6848FC-4910-4FE9-BFAB-EF01BB75E723}"/>
</file>

<file path=customXml/itemProps4.xml><?xml version="1.0" encoding="utf-8"?>
<ds:datastoreItem xmlns:ds="http://schemas.openxmlformats.org/officeDocument/2006/customXml" ds:itemID="{6B5FC67B-3B23-4023-BA44-485EA44ACBF1}"/>
</file>

<file path=docProps/app.xml><?xml version="1.0" encoding="utf-8"?>
<Properties xmlns="http://schemas.openxmlformats.org/officeDocument/2006/extended-properties" xmlns:vt="http://schemas.openxmlformats.org/officeDocument/2006/docPropsVTypes">
  <Template>SurveyResearchFindingsTemplate 2013 0204</Template>
  <TotalTime>2430</TotalTime>
  <Words>4398</Words>
  <Application>Microsoft Office PowerPoint</Application>
  <PresentationFormat>On-screen Show (4:3)</PresentationFormat>
  <Paragraphs>527</Paragraphs>
  <Slides>35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SurveyResearchFindingsTemplate 2013 0204</vt:lpstr>
      <vt:lpstr>SHRM Survey Findings: Social Networking Websites and Recruiting/Selection</vt:lpstr>
      <vt:lpstr>Key Findings: Recruiting Job Candidates</vt:lpstr>
      <vt:lpstr>Key Findings: Recruiting Job Candidates</vt:lpstr>
      <vt:lpstr>Key Findings: Screening Job Candidates</vt:lpstr>
      <vt:lpstr>Key Findings: Screening Job Candidates</vt:lpstr>
      <vt:lpstr>What do these findings mean for the HR profession?</vt:lpstr>
      <vt:lpstr>PowerPoint Presentation</vt:lpstr>
      <vt:lpstr>Has your organization ever used social networking websites to recruit potential job candidates, or does your organization plan to do so in the future?</vt:lpstr>
      <vt:lpstr>The Use of Social Networking Websites to Recruit Potential Job Candidates</vt:lpstr>
      <vt:lpstr>Reasons Organizations Are Using Social Networking Websites for Staffing or Recruiting</vt:lpstr>
      <vt:lpstr>Reasons Organizations Are Using Social Networking Websites for Staffing or Recruiting (continued)</vt:lpstr>
      <vt:lpstr>Reasons Organizations Are NOT Using Social Networking Websites for Staffing or Recruiting</vt:lpstr>
      <vt:lpstr>Reasons Organizations Are NOT Using Social Networking Websites for Staffing or Recruiting</vt:lpstr>
      <vt:lpstr>Social Networking Websites Used Most Often by Organizations for Recruitment</vt:lpstr>
      <vt:lpstr>Social Networking Websites Used Most Often by Organizations for Recruitment</vt:lpstr>
      <vt:lpstr>Targeted Job Levels Organizations Are Attempting to Fill When  Using Social Networking Websites</vt:lpstr>
      <vt:lpstr>Targeted Job Levels Organizations Are Attempting to Fill When  Using Social Networking Websites</vt:lpstr>
      <vt:lpstr>How Do Organizations Recruit Potential Job Candidates Using Social Networking Websites?</vt:lpstr>
      <vt:lpstr>How Do Organizations Recruit Potential Job Candidates Using Social Networking Websites?</vt:lpstr>
      <vt:lpstr>PowerPoint Presentation</vt:lpstr>
      <vt:lpstr>Has your organization used social networking websites or online search engines to screen job candidates at any point in the hiring process, or does it plan to do so?</vt:lpstr>
      <vt:lpstr>Why does your organization NOT use social networking websites to screen job candidates?</vt:lpstr>
      <vt:lpstr>How often do organizations use online search engines to screen job candidates at any point in the hiring process for the targeted job levels?  </vt:lpstr>
      <vt:lpstr>The Most Common Social Networking Websites Organizations Use to Screen Job Candidates</vt:lpstr>
      <vt:lpstr>Does your organization currently have a formal or an informal policy regarding the use of social networking websites to screen job candidates?</vt:lpstr>
      <vt:lpstr>Does your organization currently have a formal or an informal policy regarding the use of social networking websites to screen job candidates?</vt:lpstr>
      <vt:lpstr>Does your organization plan to implement a formal policy regarding the use of social networking websites to screen job candidates within the next 12 months?</vt:lpstr>
      <vt:lpstr>PowerPoint Presentation</vt:lpstr>
      <vt:lpstr>Demographics: Organization Industry</vt:lpstr>
      <vt:lpstr>Demographics: Organization Industry (continued)</vt:lpstr>
      <vt:lpstr>Demographics: Organization Sector</vt:lpstr>
      <vt:lpstr>Demographics: Organization Staff Size</vt:lpstr>
      <vt:lpstr>Demographics: Other</vt:lpstr>
      <vt:lpstr>SHRM Survey Findings: Social Networking Websites and Recruiting/Selection</vt:lpstr>
      <vt:lpstr>About SHRM Research</vt:lpstr>
    </vt:vector>
  </TitlesOfParts>
  <Company>SHRM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SHRM Survey Findings: Social Networking Websites and Recruiting/Selection</dc:title>
  <dc:creator>Mulvey, Tanya</dc:creator>
  <cp:keywords>Social and Value Networks; Talent Acquisition</cp:keywords>
  <cp:lastModifiedBy>Mulvey, Tanya</cp:lastModifiedBy>
  <cp:revision>125</cp:revision>
  <cp:lastPrinted>2013-03-27T18:33:31Z</cp:lastPrinted>
  <dcterms:created xsi:type="dcterms:W3CDTF">2013-02-22T21:20:07Z</dcterms:created>
  <dcterms:modified xsi:type="dcterms:W3CDTF">2013-04-10T17:15:51Z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0x0101004677C9C2C940B3458A5046D03F018E3D</vt:lpwstr>
  </property>
  <property fmtid="{D5CDD505-2E9C-101B-9397-08002B2CF9AE}" pid="3" name="_dlc_DocIdItemGuid">
    <vt:lpwstr>8e2e2c6a-8201-4ac7-b1d5-06883a1c918a</vt:lpwstr>
  </property>
  <property fmtid="{D5CDD505-2E9C-101B-9397-08002B2CF9AE}" pid="4" name="TaxKeyword">
    <vt:lpwstr>69;#Talent Acquisition|ecbff572-8efc-4d67-a4d4-965930d61a12;#491;#Social and Value Networks|c093b1cf-ed7f-41d1-a18d-64e4d7d1404f</vt:lpwstr>
  </property>
</Properties>
</file>